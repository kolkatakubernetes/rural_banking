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475cb7ff36424a" /><Relationship Type="http://schemas.openxmlformats.org/officeDocument/2006/relationships/extended-properties" Target="/docProps/app.xml" Id="Ra0d36ec1ded245c7" /><Relationship Type="http://schemas.openxmlformats.org/officeDocument/2006/relationships/officeDocument" Target="/ppt/presentation.xml" Id="R97d2eb973be5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cc3ddfed44c1e"/>
  </p:sldMasterIdLst>
  <p:notesMasterIdLst>
    <p:notesMasterId xmlns:r="http://schemas.openxmlformats.org/officeDocument/2006/relationships" r:id="R71b38d62e2dd4c66"/>
  </p:notesMasterIdLst>
  <p:sldIdLst>
    <p:sldId xmlns:r="http://schemas.openxmlformats.org/officeDocument/2006/relationships" id="256" r:id="R05d3af7d84954b7b"/>
    <p:sldId xmlns:r="http://schemas.openxmlformats.org/officeDocument/2006/relationships" id="257" r:id="R127b08d622774a95"/>
    <p:sldId xmlns:r="http://schemas.openxmlformats.org/officeDocument/2006/relationships" id="258" r:id="R048c7996a4e740d2"/>
    <p:sldId xmlns:r="http://schemas.openxmlformats.org/officeDocument/2006/relationships" id="259" r:id="Rde3255d373c34a35"/>
    <p:sldId xmlns:r="http://schemas.openxmlformats.org/officeDocument/2006/relationships" id="260" r:id="R44f98d73698b4f9a"/>
    <p:sldId xmlns:r="http://schemas.openxmlformats.org/officeDocument/2006/relationships" id="261" r:id="R3715dddfca5645a7"/>
    <p:sldId xmlns:r="http://schemas.openxmlformats.org/officeDocument/2006/relationships" id="262" r:id="R383501056d934596"/>
    <p:sldId xmlns:r="http://schemas.openxmlformats.org/officeDocument/2006/relationships" id="263" r:id="R9bac225c21094eb1"/>
    <p:sldId xmlns:r="http://schemas.openxmlformats.org/officeDocument/2006/relationships" id="264" r:id="Rf0d4584f104e4397"/>
    <p:sldId xmlns:r="http://schemas.openxmlformats.org/officeDocument/2006/relationships" id="265" r:id="R60043d3673bf4ab2"/>
    <p:sldId xmlns:r="http://schemas.openxmlformats.org/officeDocument/2006/relationships" id="266" r:id="Re2db75c11bbc48c7"/>
    <p:sldId xmlns:r="http://schemas.openxmlformats.org/officeDocument/2006/relationships" id="267" r:id="Rc55932934d7f4d45"/>
    <p:sldId xmlns:r="http://schemas.openxmlformats.org/officeDocument/2006/relationships" id="268" r:id="R3c565f9c57e84c99"/>
    <p:sldId xmlns:r="http://schemas.openxmlformats.org/officeDocument/2006/relationships" id="269" r:id="R8f63b69589df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5416da37274125" /><Relationship Type="http://schemas.openxmlformats.org/officeDocument/2006/relationships/slideMaster" Target="/ppt/slideMasters/slideMaster1.xml" Id="R2fccc3ddfed44c1e" /><Relationship Type="http://schemas.openxmlformats.org/officeDocument/2006/relationships/notesMaster" Target="/ppt/notesMasters/notesMaster1.xml" Id="R71b38d62e2dd4c66" /><Relationship Type="http://schemas.openxmlformats.org/officeDocument/2006/relationships/presProps" Target="/ppt/presProps.xml" Id="R53f90a84252446da" /><Relationship Type="http://schemas.openxmlformats.org/officeDocument/2006/relationships/viewProps" Target="/ppt/viewProps.xml" Id="Rca5a0c661d8b4f9f" /><Relationship Type="http://schemas.openxmlformats.org/officeDocument/2006/relationships/tableStyles" Target="/ppt/tableStyles.xml" Id="Rc95628d5e4104b58" /><Relationship Type="http://schemas.openxmlformats.org/officeDocument/2006/relationships/slide" Target="/ppt/slides/slide1.xml" Id="R05d3af7d84954b7b" /><Relationship Type="http://schemas.openxmlformats.org/officeDocument/2006/relationships/slide" Target="/ppt/slides/slide2.xml" Id="R127b08d622774a95" /><Relationship Type="http://schemas.openxmlformats.org/officeDocument/2006/relationships/slide" Target="/ppt/slides/slide3.xml" Id="R048c7996a4e740d2" /><Relationship Type="http://schemas.openxmlformats.org/officeDocument/2006/relationships/slide" Target="/ppt/slides/slide4.xml" Id="Rde3255d373c34a35" /><Relationship Type="http://schemas.openxmlformats.org/officeDocument/2006/relationships/slide" Target="/ppt/slides/slide5.xml" Id="R44f98d73698b4f9a" /><Relationship Type="http://schemas.openxmlformats.org/officeDocument/2006/relationships/slide" Target="/ppt/slides/slide6.xml" Id="R3715dddfca5645a7" /><Relationship Type="http://schemas.openxmlformats.org/officeDocument/2006/relationships/slide" Target="/ppt/slides/slide7.xml" Id="R383501056d934596" /><Relationship Type="http://schemas.openxmlformats.org/officeDocument/2006/relationships/slide" Target="/ppt/slides/slide8.xml" Id="R9bac225c21094eb1" /><Relationship Type="http://schemas.openxmlformats.org/officeDocument/2006/relationships/slide" Target="/ppt/slides/slide9.xml" Id="Rf0d4584f104e4397" /><Relationship Type="http://schemas.openxmlformats.org/officeDocument/2006/relationships/slide" Target="/ppt/slides/slide10.xml" Id="R60043d3673bf4ab2" /><Relationship Type="http://schemas.openxmlformats.org/officeDocument/2006/relationships/slide" Target="/ppt/slides/slide11.xml" Id="Re2db75c11bbc48c7" /><Relationship Type="http://schemas.openxmlformats.org/officeDocument/2006/relationships/slide" Target="/ppt/slides/slide12.xml" Id="Rc55932934d7f4d45" /><Relationship Type="http://schemas.openxmlformats.org/officeDocument/2006/relationships/slide" Target="/ppt/slides/slide13.xml" Id="R3c565f9c57e84c99" /><Relationship Type="http://schemas.openxmlformats.org/officeDocument/2006/relationships/slide" Target="/ppt/slides/slide14.xml" Id="R8f63b69589df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4aa03a849c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DI master slide layouts">
  <a:themeElements>
    <a:clrScheme name="Extension - CDI">
      <a:dk1>
        <a:srgbClr val="000000"/>
      </a:dk1>
      <a:lt1>
        <a:srgbClr val="FFFFFF"/>
      </a:lt1>
      <a:dk2>
        <a:srgbClr val="333333"/>
      </a:dk2>
      <a:lt2>
        <a:srgbClr val="F7F7F7"/>
      </a:lt2>
      <a:accent1>
        <a:srgbClr val="C5050C"/>
      </a:accent1>
      <a:accent2>
        <a:srgbClr val="9B0000"/>
      </a:accent2>
      <a:accent3>
        <a:srgbClr val="DF8619"/>
      </a:accent3>
      <a:accent4>
        <a:srgbClr val="7095A7"/>
      </a:accent4>
      <a:accent5>
        <a:srgbClr val="3D6D82"/>
      </a:accent5>
      <a:accent6>
        <a:srgbClr val="A1AF7B"/>
      </a:accent6>
      <a:hlink>
        <a:srgbClr val="0478A7"/>
      </a:hlink>
      <a:folHlink>
        <a:srgbClr val="0478A7"/>
      </a:folHlink>
    </a:clrScheme>
    <a:fontScheme name="Red Hat Display Bold - Red Hat Text Regular">
      <a:majorFont>
        <a:latin typeface="Red Hat Display Bold"/>
        <a:ea typeface=""/>
        <a:cs typeface=""/>
      </a:majorFont>
      <a:minorFont>
        <a:latin typeface="Red Hat Text Regular"/>
        <a:ea typeface=""/>
        <a:cs typeface=""/>
      </a:minorFont>
    </a:fontScheme>
    <a:fmtScheme name="Extension - CDI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1bc592b2794c42" /><Relationship Type="http://schemas.openxmlformats.org/officeDocument/2006/relationships/notesMaster" Target="/ppt/notesMasters/notesMaster1.xml" Id="Rb2609b1819e7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66b202d6ba47c2" /><Relationship Type="http://schemas.openxmlformats.org/officeDocument/2006/relationships/notesMaster" Target="/ppt/notesMasters/notesMaster1.xml" Id="R9a8162c909b34b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46336ad8f4761" /><Relationship Type="http://schemas.openxmlformats.org/officeDocument/2006/relationships/notesMaster" Target="/ppt/notesMasters/notesMaster1.xml" Id="R2242360d00cd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32c9f17f37494e" /><Relationship Type="http://schemas.openxmlformats.org/officeDocument/2006/relationships/notesMaster" Target="/ppt/notesMasters/notesMaster1.xml" Id="R178f2c9a6cd345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7112ec184e40ee" /><Relationship Type="http://schemas.openxmlformats.org/officeDocument/2006/relationships/notesMaster" Target="/ppt/notesMasters/notesMaster1.xml" Id="R586e1efa441f41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f2b934e1847b8" /><Relationship Type="http://schemas.openxmlformats.org/officeDocument/2006/relationships/notesMaster" Target="/ppt/notesMasters/notesMaster1.xml" Id="R77c129031f88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a1963eb2714134" /><Relationship Type="http://schemas.openxmlformats.org/officeDocument/2006/relationships/notesMaster" Target="/ppt/notesMasters/notesMaster1.xml" Id="Rc314af6b9bf24b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6dcbef3be64e06" /><Relationship Type="http://schemas.openxmlformats.org/officeDocument/2006/relationships/notesMaster" Target="/ppt/notesMasters/notesMaster1.xml" Id="R497d242fcb374f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7acdbda5d64218" /><Relationship Type="http://schemas.openxmlformats.org/officeDocument/2006/relationships/notesMaster" Target="/ppt/notesMasters/notesMaster1.xml" Id="R8b80d978d5e643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67133060db4da5" /><Relationship Type="http://schemas.openxmlformats.org/officeDocument/2006/relationships/notesMaster" Target="/ppt/notesMasters/notesMaster1.xml" Id="R281cbae7285b46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f1bfc5e34e4250" /><Relationship Type="http://schemas.openxmlformats.org/officeDocument/2006/relationships/notesMaster" Target="/ppt/notesMasters/notesMaster1.xml" Id="Ra8cca2bc97f44c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b13f806d8c4f57" /><Relationship Type="http://schemas.openxmlformats.org/officeDocument/2006/relationships/notesMaster" Target="/ppt/notesMasters/notesMaster1.xml" Id="Rbbbe0719385644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75f06b5bda46d1" /><Relationship Type="http://schemas.openxmlformats.org/officeDocument/2006/relationships/notesMaster" Target="/ppt/notesMasters/notesMaster1.xml" Id="Rd1c630eb9624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c7e8e367c0499b" /><Relationship Type="http://schemas.openxmlformats.org/officeDocument/2006/relationships/notesMaster" Target="/ppt/notesMasters/notesMaster1.xml" Id="R2d5001521f364e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2026 Small Business Finance Report (final report supplied by the author).</a:t>
            </a:r>
          </a:p>
          <a:p xmlns:a="http://schemas.openxmlformats.org/drawingml/2006/main">
            <a:r>
              <a:t>Editorial wording: Wisc_smallbiz_finance_soundbites.pptx.</a:t>
            </a:r>
          </a:p>
          <a:p xmlns:a="http://schemas.openxmlformats.org/drawingml/2006/main">
            <a:r>
              <a:t>Visual template: extension_example.pptx, source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6: institutions fell from 365 in 2000 to 193 in 2024 (−47.1%).</a:t>
            </a:r>
          </a:p>
          <a:p xmlns:a="http://schemas.openxmlformats.org/drawingml/2006/main">
            <a:r>
              <a:t>Editorial wording: Wisc_smallbiz_finance_soundbites.pptx, Fact 1.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[Sources]</a:t>
            </a:r>
            <a:endParaRPr sz="1200">
              <a:latin typeface="Noto Sans Symbols"/>
              <a:ea typeface="Noto Sans Symbols"/>
              <a:cs typeface="Noto Sans Symbols"/>
            </a:endParaRPr>
          </a:p>
          <a:p xmlns:a="http://schemas.openxmlformats.org/drawingml/2006/main">
            <a:r>
              <a:t>2026 Small Business Finance Report, p. 6: 365 institutions in 2000 versus 193 in 2024; branches fell from 2,116 to 1,661.</a:t>
            </a:r>
            <a:endParaRPr/>
          </a:p>
          <a:p xmlns:a="http://schemas.openxmlformats.org/drawingml/2006/main">
            <a:r>
              <a:t>Visual template: extension_example.pptx, source slide 16.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10: five- and ten-mile lending deserts persist, especially in northern Wisconsin.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Map and metric: 2026 Small Business Finance Report, p. 10, Figure 4. The report notes that some residents may travel more than 20 miles round trip to reach a branch.</a:t>
            </a:r>
          </a:p>
          <a:p xmlns:a="http://schemas.openxmlformats.org/drawingml/2006/main">
            <a:r>
              <a:t>Visual template: extension_example.pptx, source slide 11; UW Extension logo inherited from the reference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12: Wisconsin small-business lending remained below pre-crisis levels in 2023.</a:t>
            </a:r>
          </a:p>
          <a:p xmlns:a="http://schemas.openxmlformats.org/drawingml/2006/main">
            <a:r>
              <a:t>Editorial wording: Wisc_smallbiz_finance_soundbites.pptx, Fact 2, limited to the CRA loan-size range supported by the final report.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2026 Small Business Finance Report, p. 12: in 2023, loans under $100,000 were 91.5% of CRA loan count but 30.6% of dollar volume.</a:t>
            </a:r>
            <a:endParaRPr/>
          </a:p>
          <a:p xmlns:a="http://schemas.openxmlformats.org/drawingml/2006/main">
            <a:r>
              <a:t>Visual template: extension_example.pptx, source slide 15.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pp. 15–16: Wisconsin credit unions declined from 191 institutions in 2010 to 140 in 2024, while branches rose from 546 to 696.</a:t>
            </a:r>
          </a:p>
          <a:p xmlns:a="http://schemas.openxmlformats.org/drawingml/2006/main">
            <a:r>
              <a:t>Editorial wording: Wisc_smallbiz_finance_soundbites.pptx, Fact 3.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16, Figure CU-2: 696 branches and 140 institutions in 2024; approximately 6.5 branches per institution, versus 2.8 in 2010.</a:t>
            </a:r>
          </a:p>
          <a:p xmlns:a="http://schemas.openxmlformats.org/drawingml/2006/main">
            <a:r>
              <a:t>Visual template: extension_example.pptx, source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18: per-capita credit-union commercial lending rose while originations stayed near 9–11 per 10,000 residents.</a:t>
            </a:r>
          </a:p>
          <a:p xmlns:a="http://schemas.openxmlformats.org/drawingml/2006/main">
            <a:r>
              <a:t>Editorial wording: Wisc_smallbiz_finance_soundbites.pptx, Fact 4.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18: average commercial loan size increased from approximately $185,000 in 2017 to $485,000 in 2024; origination frequency remained relatively flat.</a:t>
            </a:r>
          </a:p>
          <a:p xmlns:a="http://schemas.openxmlformats.org/drawingml/2006/main">
            <a:r>
              <a:t>Visual template: extension_example.pptx, source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pp. 22 and 24: Wisconsin firms raised approximately $3.8 billion from 2015–2024; Wisconsin ranked 35th among 45 contiguous states shown on a per-capita basis.</a:t>
            </a:r>
          </a:p>
          <a:p xmlns:a="http://schemas.openxmlformats.org/drawingml/2006/main">
            <a:r>
              <a:t>Editorial wording: Wisc_smallbiz_finance_soundbites.pptx, Fact 5, with the final-report total of $3.8 billion.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2026 Small Business Finance Report, p. 24: Wisconsin ranked 35th among the 45 contiguous states shown in per-capita venture-capital investment.</a:t>
            </a:r>
          </a:p>
          <a:p xmlns:a="http://schemas.openxmlformats.org/drawingml/2006/main">
            <a:r>
              <a:t>2026 Small Business Finance Report, p. 22: Wisconsin firms raised approximately $3.8 billion from 2015–2024.</a:t>
            </a:r>
          </a:p>
          <a:p xmlns:a="http://schemas.openxmlformats.org/drawingml/2006/main">
            <a:r>
              <a:t>Visual template: extension_example.pptx, source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Synthesis of the six findings presented in the 2026 Small Business Finance Report.</a:t>
            </a:r>
          </a:p>
          <a:p xmlns:a="http://schemas.openxmlformats.org/drawingml/2006/main">
            <a:r>
              <a:t>Visual template: extension_example.pptx, source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3144f1d2d4b32" /><Relationship Type="http://schemas.openxmlformats.org/officeDocument/2006/relationships/image" Target="/ppt/media/image.png" Id="R3d07a7fe65214094" /><Relationship Type="http://schemas.openxmlformats.org/officeDocument/2006/relationships/image" Target="/ppt/media/image2.png" Id="Rc23e819f259e49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f4810f0d446fd" /><Relationship Type="http://schemas.openxmlformats.org/officeDocument/2006/relationships/image" Target="/ppt/media/image.png" Id="R098eb226dc6f40f9" /><Relationship Type="http://schemas.openxmlformats.org/officeDocument/2006/relationships/image" Target="/ppt/media/image2.png" Id="Re1c14f3749524b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147795ab54619" /><Relationship Type="http://schemas.openxmlformats.org/officeDocument/2006/relationships/image" Target="/ppt/media/image.png" Id="R685634ecdbbc49ae" /><Relationship Type="http://schemas.openxmlformats.org/officeDocument/2006/relationships/image" Target="/ppt/media/image2.png" Id="Rf13d0b66cdc640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d1d0bac154304" /><Relationship Type="http://schemas.openxmlformats.org/officeDocument/2006/relationships/image" Target="/ppt/media/image.png" Id="R9b32362ee30940f8" /><Relationship Type="http://schemas.openxmlformats.org/officeDocument/2006/relationships/image" Target="/ppt/media/image2.png" Id="Rc6c8ae257bc845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e996d929c4c95" /><Relationship Type="http://schemas.openxmlformats.org/officeDocument/2006/relationships/image" Target="/ppt/media/image2.png" Id="Re6aaae7021044e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de32dae47496d" /><Relationship Type="http://schemas.openxmlformats.org/officeDocument/2006/relationships/image" Target="/ppt/media/image.png" Id="R6c370aa2d44d4e12" /><Relationship Type="http://schemas.openxmlformats.org/officeDocument/2006/relationships/image" Target="/ppt/media/image2.png" Id="R5955496cbb944e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17febdede41d0" /><Relationship Type="http://schemas.openxmlformats.org/officeDocument/2006/relationships/image" Target="/ppt/media/image.png" Id="Redd959274a9846c4" /><Relationship Type="http://schemas.openxmlformats.org/officeDocument/2006/relationships/image" Target="/ppt/media/image2.png" Id="Rd2084cc84e5c43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7c6e383dd41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cf716fab04f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5ae5438514688" /></Relationships>
</file>

<file path=ppt/slideLayouts/slideLayout1.xml><?xml version="1.0" encoding="utf-8"?>
<p:sldLayout xmlns:p="http://schemas.openxmlformats.org/presentationml/2006/main" preserve="1" userDrawn="1">
  <p:cSld name="Title with headline block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4D92BB6B-AE03-416E-8DF0-54A3529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ECC5806A-0E08-4163-BA42-40371829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0090978D-EF3E-4472-BAB3-D58C6087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5053334A-5220-4348-985E-67D7C541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91F1AD9D-A5DA-4A08-ACBF-789EC062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0" y="4404360"/>
            <a:ext cx="1562100" cy="0"/>
          </a:xfrm>
          <a:prstGeom xmlns:a="http://schemas.openxmlformats.org/drawingml/2006/main" prst="line">
            <a:avLst/>
          </a:prstGeom>
          <a:ln xmlns:a="http://schemas.openxmlformats.org/drawingml/2006/main" w="88900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7a7fe6521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4930" y="-179826"/>
            <a:ext cx="5976248" cy="2592533"/>
          </a:xfrm>
          <a:prstGeom xmlns:a="http://schemas.openxmlformats.org/drawingml/2006/main" prst="rect">
            <a:avLst/>
          </a:prstGeom>
        </p:spPr>
      </p:pic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0F1E17E4-23CB-41A0-BCD3-B0C810F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875071" y="-218888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11576685-ABA3-416D-BE3A-FF7A14C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875071" y="-115650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1515D0B3-1272-5DE2-0EE6-3CB3F437AF8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988820" y="1986175"/>
            <a:ext cx="5307012" cy="844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182880" tIns="91440" rIns="91440" bIns="0">
            <a:spAutoFit/>
          </a:bodyPr>
          <a:lstStyle xmlns:a="http://schemas.openxmlformats.org/drawingml/2006/main">
            <a:lvl1pPr marL="0" indent="0">
              <a:buNone/>
              <a:defRPr sz="5400" b="1" kern="1200" cap="all" spc="150">
                <a:solidFill>
                  <a:schemeClr val="bg1"/>
                </a:solidFill>
                <a:latin typeface="Red Hat Display Black"/>
                <a:ea typeface="Red Hat Display Black"/>
                <a:cs typeface="Red Hat Display Black"/>
              </a:defRPr>
            </a:lvl1pPr>
          </a:lstStyle>
          <a:p xmlns:a="http://schemas.openxmlformats.org/drawingml/2006/main">
            <a:pPr lvl="0">
              <a:buNone/>
            </a:pPr>
            <a:r>
              <a:t>Title using</a:t>
            </a:r>
          </a:p>
        </p:txBody>
      </p:sp>
      <p:sp>
        <p:nvSpPr>
          <p:cNvPr id="25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6010EDAC-5660-C654-1F18-917056C4D9B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988820" y="3083267"/>
            <a:ext cx="8637000" cy="844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vert="horz" wrap="square" lIns="182880" tIns="91440" rIns="91440" bIns="0">
            <a:spAutoFit/>
          </a:bodyPr>
          <a:lstStyle xmlns:a="http://schemas.openxmlformats.org/drawingml/2006/main">
            <a:lvl1pPr>
              <a:buNone/>
              <a:defRPr sz="5400" b="1" cap="all" spc="150">
                <a:solidFill>
                  <a:schemeClr val="bg1"/>
                </a:solidFill>
                <a:latin typeface="Red Hat Display Black"/>
                <a:ea typeface="Red Hat Display Black"/>
                <a:cs typeface="Red Hat Display Black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Headline blocking</a:t>
            </a:r>
          </a:p>
        </p:txBody>
      </p:sp>
      <p:sp>
        <p:nvSpPr>
          <p:cNvPr id="28" name="Text Placeholder 27">
            <a:extLst xmlns:a="http://schemas.openxmlformats.org/drawingml/2006/main">
              <a:ext uri="{FF2B5EF4-FFF2-40B4-BE49-F238E27FC236}">
                <a16:creationId xmlns:a16="http://schemas.microsoft.com/office/drawing/2014/main" id="{4CAD7091-7920-F62D-AC72-9886A4BE986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988820" y="4722275"/>
            <a:ext cx="3988543" cy="4895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 kern="1200" cap="all" spc="200">
                <a:solidFill>
                  <a:srgbClr val="646569"/>
                </a:solidFill>
                <a:latin typeface="Red Hat Display SemiBold"/>
                <a:ea typeface="Red Hat Display SemiBold"/>
                <a:cs typeface="Red Hat Display SemiBold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C5D9D7C-E495-C238-7F18-BB792736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699"/>
            <a:ext cx="12192000" cy="26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e819f259e49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without headline block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751355-38BF-12E1-6DE1-06AEAF27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699"/>
            <a:ext cx="12192000" cy="26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DC2CA064-9B5B-4590-A396-6A15059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E7A7045-3625-47B5-8442-F78BB00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A30CEEB0-EF50-4CE7-A8CF-78E316E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B8EF9234-81AD-4576-9982-810AF0A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23F479F-B8BB-4C79-8838-59FBD7B2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0" y="4404360"/>
            <a:ext cx="1562100" cy="0"/>
          </a:xfrm>
          <a:prstGeom xmlns:a="http://schemas.openxmlformats.org/drawingml/2006/main" prst="line">
            <a:avLst/>
          </a:prstGeom>
          <a:ln xmlns:a="http://schemas.openxmlformats.org/drawingml/2006/main" w="88900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eb226dc6f40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4930" y="-179826"/>
            <a:ext cx="5976248" cy="2592533"/>
          </a:xfrm>
          <a:prstGeom xmlns:a="http://schemas.openxmlformats.org/drawingml/2006/main" prst="rect">
            <a:avLst/>
          </a:prstGeom>
        </p:spPr>
      </p:pic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321E93AA-6750-4478-9C39-CE129FC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875071" y="-218888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71A3CE8A-D07F-46AB-BA4E-4CC0C74C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875071" y="-115650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 Placeholder 27">
            <a:extLst xmlns:a="http://schemas.openxmlformats.org/drawingml/2006/main">
              <a:ext uri="{FF2B5EF4-FFF2-40B4-BE49-F238E27FC236}">
                <a16:creationId xmlns:a16="http://schemas.microsoft.com/office/drawing/2014/main" id="{4CAD7091-7920-F62D-AC72-9886A4BE986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988820" y="4722275"/>
            <a:ext cx="3988543" cy="4895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 kern="1200" cap="all" spc="200">
                <a:solidFill>
                  <a:srgbClr val="646569"/>
                </a:solidFill>
                <a:latin typeface="Red Hat Display SemiBold"/>
                <a:ea typeface="Red Hat Display SemiBold"/>
                <a:cs typeface="Red Hat Display SemiBold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BAAA978-876C-24ED-1CA8-2041544068B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04458" y="2343958"/>
            <a:ext cx="8166774" cy="161239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5400" b="1" kern="1200">
                <a:solidFill>
                  <a:srgbClr val="C5050C"/>
                </a:solidFill>
                <a:latin typeface="Red Hat Display Black"/>
                <a:ea typeface="Red Hat Display Black"/>
                <a:cs typeface="Red Hat Display Black"/>
              </a:defRPr>
            </a:lvl1pPr>
          </a:lstStyle>
          <a:p xmlns:a="http://schemas.openxmlformats.org/drawingml/2006/main">
            <a:r>
              <a:rPr sz="5400" b="1">
                <a:solidFill>
                  <a:srgbClr val="C5050C"/>
                </a:solidFill>
                <a:latin typeface="Red Hat Display Black"/>
                <a:ea typeface="Red Hat Display Black"/>
                <a:cs typeface="Red Hat Display Black"/>
              </a:rPr>
              <a:t>Title of Presentation </a:t>
            </a:r>
            <a:r>
              <a:rPr sz="5400" b="1">
                <a:solidFill>
                  <a:srgbClr val="C5050C"/>
                </a:solidFill>
                <a:latin typeface="Red Hat Display Black"/>
                <a:ea typeface="Red Hat Display Black"/>
                <a:cs typeface="Red Hat Display Black"/>
              </a:rPr>
              <a:t>Goes Here</a:t>
            </a:r>
          </a:p>
        </p:txBody>
      </p:sp>
      <p:pic>
        <p:nvPicPr>
          <p:cNvPr id="4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14f3749524b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Slide with bulle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634ecdbbc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96E0F4-D992-CB5A-F8EB-F06C8D7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205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9B413C30-1CD3-4E8A-AF16-1D92EA5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0ADBB478-B2D4-4334-8ABE-636CED1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9DFE8908-231D-43F0-91DE-66D30F7A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4CF7252A-FD93-4CD5-AC8A-44FE2C8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BDE52CCC-773F-4EE4-8C0A-08D48FC4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26826367-6F0A-431A-89AB-10698D69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Graphic 53">
            <a:extLst xmlns:a="http://schemas.openxmlformats.org/drawingml/2006/main">
              <a:ext uri="{FF2B5EF4-FFF2-40B4-BE49-F238E27FC236}">
                <a16:creationId xmlns:a16="http://schemas.microsoft.com/office/drawing/2014/main" id="{33FE69DD-D4A9-8434-64ED-14F6670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126" y="1151879"/>
            <a:ext cx="529821" cy="528062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solidFill xmlns:a="http://schemas.openxmlformats.org/drawingml/2006/main">
            <a:srgbClr val="DADFE1"/>
          </a:solidFill>
          <a:ln xmlns:a="http://schemas.openxmlformats.org/drawingml/2006/main" w="4534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16" name="Graphic 53">
            <a:extLst xmlns:a="http://schemas.openxmlformats.org/drawingml/2006/main">
              <a:ext uri="{FF2B5EF4-FFF2-40B4-BE49-F238E27FC236}">
                <a16:creationId xmlns:a16="http://schemas.microsoft.com/office/drawing/2014/main" id="{E2DD5DBD-B812-BA8A-EAF6-0573368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595" y="1221834"/>
            <a:ext cx="474857" cy="473280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05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534BCF8-E0C3-F408-E40C-7D100D0F54A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940174" y="1914999"/>
            <a:ext cx="6801715" cy="3589337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/>
            </a:lvl1pPr>
            <a:lvl2pPr marL="800100" indent="-342900">
              <a:buFont typeface="Arial"/>
              <a:buChar char="•"/>
              <a:defRPr/>
            </a:lvl2pPr>
            <a:lvl3pPr marL="1257300" indent="-342900">
              <a:buFont typeface="Arial"/>
              <a:buChar char="•"/>
              <a:defRPr/>
            </a:lvl3pPr>
            <a:lvl4pPr marL="1657350" indent="-285750">
              <a:buFont typeface="Arial"/>
              <a:buChar char="•"/>
              <a:defRPr/>
            </a:lvl4pPr>
            <a:lvl5pPr marL="2114550" indent="-285750"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Text Placeholder 24">
            <a:extLst xmlns:a="http://schemas.openxmlformats.org/drawingml/2006/main">
              <a:ext uri="{FF2B5EF4-FFF2-40B4-BE49-F238E27FC236}">
                <a16:creationId xmlns:a16="http://schemas.microsoft.com/office/drawing/2014/main" id="{EB73D43F-13E5-7AA4-A91A-C4A3D92EF69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920275" y="1176660"/>
            <a:ext cx="6727485" cy="61641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 kern="1200">
                <a:solidFill>
                  <a:srgbClr val="C5050C"/>
                </a:solidFill>
                <a:latin typeface="Red Hat Display"/>
                <a:ea typeface="Red Hat Display"/>
                <a:cs typeface="Red Hat Display"/>
              </a:defRPr>
            </a:lvl1pPr>
          </a:lstStyle>
          <a:p xmlns:a="http://schemas.openxmlformats.org/drawingml/2006/main">
            <a:r>
              <a:rPr sz="36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Slide with bullets</a:t>
            </a:r>
          </a:p>
        </p:txBody>
      </p:sp>
      <p:pic>
        <p:nvPicPr>
          <p:cNvPr id="4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d0b66cdc640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Slide with photo and bullets -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0B2BDC5C-989A-113B-982A-F818DE13882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147801" y="-44971"/>
            <a:ext cx="4442219" cy="44945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  <a:endParaRPr/>
          </a:p>
        </p:txBody>
      </p:sp>
      <p:pic>
        <p:nvPicPr>
          <p:cNvPr id="2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2362ee30940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96E0F4-D992-CB5A-F8EB-F06C8D7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205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AF00076-12BF-4D43-8FB7-397F540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3AB56FB0-C9AD-4530-9A7E-E2E9760C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D563E334-22E9-4E18-B532-5D316980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D9CCDA57-19D6-444D-A25C-AD83CD7E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706C1CE-1481-4623-9900-BB49CDD1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870D6709-010D-43BA-AD71-66F8462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Graphic 53">
            <a:extLst xmlns:a="http://schemas.openxmlformats.org/drawingml/2006/main">
              <a:ext uri="{FF2B5EF4-FFF2-40B4-BE49-F238E27FC236}">
                <a16:creationId xmlns:a16="http://schemas.microsoft.com/office/drawing/2014/main" id="{33FE69DD-D4A9-8434-64ED-14F6670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521" y="1439285"/>
            <a:ext cx="529821" cy="528062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solidFill xmlns:a="http://schemas.openxmlformats.org/drawingml/2006/main">
            <a:srgbClr val="DADFE1"/>
          </a:solidFill>
          <a:ln xmlns:a="http://schemas.openxmlformats.org/drawingml/2006/main" w="4534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16" name="Graphic 53">
            <a:extLst xmlns:a="http://schemas.openxmlformats.org/drawingml/2006/main">
              <a:ext uri="{FF2B5EF4-FFF2-40B4-BE49-F238E27FC236}">
                <a16:creationId xmlns:a16="http://schemas.microsoft.com/office/drawing/2014/main" id="{E2DD5DBD-B812-BA8A-EAF6-0573368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90" y="1509240"/>
            <a:ext cx="474857" cy="473280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05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534BCF8-E0C3-F408-E40C-7D100D0F54A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30724" y="2536644"/>
            <a:ext cx="5554389" cy="3589337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/>
            </a:lvl1pPr>
            <a:lvl2pPr marL="800100" indent="-342900">
              <a:buFont typeface="Arial"/>
              <a:buChar char="•"/>
              <a:defRPr/>
            </a:lvl2pPr>
            <a:lvl3pPr marL="1257300" indent="-342900">
              <a:buFont typeface="Arial"/>
              <a:buChar char="•"/>
              <a:defRPr/>
            </a:lvl3pPr>
            <a:lvl4pPr marL="1657350" indent="-285750">
              <a:buFont typeface="Arial"/>
              <a:buChar char="•"/>
              <a:defRPr/>
            </a:lvl4pPr>
            <a:lvl5pPr marL="2114550" indent="-285750"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24">
            <a:extLst xmlns:a="http://schemas.openxmlformats.org/drawingml/2006/main">
              <a:ext uri="{FF2B5EF4-FFF2-40B4-BE49-F238E27FC236}">
                <a16:creationId xmlns:a16="http://schemas.microsoft.com/office/drawing/2014/main" id="{C4812439-4AE9-00AD-CD7D-4B8F8ACC13B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230725" y="1478296"/>
            <a:ext cx="4719502" cy="105834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 kern="1200">
                <a:solidFill>
                  <a:srgbClr val="C5050C"/>
                </a:solidFill>
                <a:latin typeface="Red Hat Display"/>
                <a:ea typeface="Red Hat Display"/>
                <a:cs typeface="Red Hat Display"/>
              </a:defRPr>
            </a:lvl1pPr>
          </a:lstStyle>
          <a:p xmlns:a="http://schemas.openxmlformats.org/drawingml/2006/main">
            <a:r>
              <a:rPr sz="36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Slide with photo and a few bullets</a:t>
            </a:r>
          </a:p>
        </p:txBody>
      </p:sp>
      <p:pic>
        <p:nvPicPr>
          <p:cNvPr id="3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8ae257bc845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Slide with photo and bullets -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0B2BDC5C-989A-113B-982A-F818DE13882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205" y="-44450"/>
            <a:ext cx="3325813" cy="6902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96E0F4-D992-CB5A-F8EB-F06C8D7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205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D08D7316-5775-4742-9B4C-9F2E7184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C7991ED2-7A2B-4BD8-ACA1-FC30B8F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68F6DEB6-E1B1-4591-9BBA-9CCD4518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6189121C-06CE-4168-930E-BAE32A1A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Graphic 53">
            <a:extLst xmlns:a="http://schemas.openxmlformats.org/drawingml/2006/main">
              <a:ext uri="{FF2B5EF4-FFF2-40B4-BE49-F238E27FC236}">
                <a16:creationId xmlns:a16="http://schemas.microsoft.com/office/drawing/2014/main" id="{33FE69DD-D4A9-8434-64ED-14F6670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6912" y="1151879"/>
            <a:ext cx="529821" cy="528062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solidFill xmlns:a="http://schemas.openxmlformats.org/drawingml/2006/main">
            <a:srgbClr val="DADFE1"/>
          </a:solidFill>
          <a:ln xmlns:a="http://schemas.openxmlformats.org/drawingml/2006/main" w="4534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16" name="Graphic 53">
            <a:extLst xmlns:a="http://schemas.openxmlformats.org/drawingml/2006/main">
              <a:ext uri="{FF2B5EF4-FFF2-40B4-BE49-F238E27FC236}">
                <a16:creationId xmlns:a16="http://schemas.microsoft.com/office/drawing/2014/main" id="{E2DD5DBD-B812-BA8A-EAF6-0573368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4381" y="1221834"/>
            <a:ext cx="474857" cy="473280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05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534BCF8-E0C3-F408-E40C-7D100D0F54A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495115" y="1914999"/>
            <a:ext cx="6801715" cy="3589337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/>
            </a:lvl1pPr>
            <a:lvl2pPr marL="800100" indent="-342900">
              <a:buFont typeface="Arial"/>
              <a:buChar char="•"/>
              <a:defRPr/>
            </a:lvl2pPr>
            <a:lvl3pPr marL="1257300" indent="-342900">
              <a:buFont typeface="Arial"/>
              <a:buChar char="•"/>
              <a:defRPr/>
            </a:lvl3pPr>
            <a:lvl4pPr marL="1657350" indent="-285750">
              <a:buFont typeface="Arial"/>
              <a:buChar char="•"/>
              <a:defRPr/>
            </a:lvl4pPr>
            <a:lvl5pPr marL="2114550" indent="-285750"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24">
            <a:extLst xmlns:a="http://schemas.openxmlformats.org/drawingml/2006/main">
              <a:ext uri="{FF2B5EF4-FFF2-40B4-BE49-F238E27FC236}">
                <a16:creationId xmlns:a16="http://schemas.microsoft.com/office/drawing/2014/main" id="{C4812439-4AE9-00AD-CD7D-4B8F8ACC13B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95115" y="1190891"/>
            <a:ext cx="7418979" cy="61641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 kern="1200">
                <a:solidFill>
                  <a:srgbClr val="C5050C"/>
                </a:solidFill>
                <a:latin typeface="Red Hat Display"/>
                <a:ea typeface="Red Hat Display"/>
                <a:cs typeface="Red Hat Display"/>
              </a:defRPr>
            </a:lvl1pPr>
          </a:lstStyle>
          <a:p xmlns:a="http://schemas.openxmlformats.org/drawingml/2006/main">
            <a:r>
              <a:rPr sz="36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Slide with photo and a few bullets</a:t>
            </a:r>
          </a:p>
        </p:txBody>
      </p:sp>
      <p:pic>
        <p:nvPicPr>
          <p:cNvPr id="3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aae7021044e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Slide with chart and bullets -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70aa2d44d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96E0F4-D992-CB5A-F8EB-F06C8D7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205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14C4F40-40DC-439A-A96E-7C958AE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29700A15-2D3B-4CED-894B-523BDFD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695F8AC-135B-4DB7-9398-A923A21A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ED50C0F9-96BE-46EC-9282-9F71B9DC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3BA792A1-F401-489D-846A-B144C916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DBF46627-C9C6-4E40-B951-E7D0ABB3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Graphic 53">
            <a:extLst xmlns:a="http://schemas.openxmlformats.org/drawingml/2006/main">
              <a:ext uri="{FF2B5EF4-FFF2-40B4-BE49-F238E27FC236}">
                <a16:creationId xmlns:a16="http://schemas.microsoft.com/office/drawing/2014/main" id="{33FE69DD-D4A9-8434-64ED-14F6670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521" y="1439285"/>
            <a:ext cx="529821" cy="528062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solidFill xmlns:a="http://schemas.openxmlformats.org/drawingml/2006/main">
            <a:srgbClr val="DADFE1"/>
          </a:solidFill>
          <a:ln xmlns:a="http://schemas.openxmlformats.org/drawingml/2006/main" w="4534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16" name="Graphic 53">
            <a:extLst xmlns:a="http://schemas.openxmlformats.org/drawingml/2006/main">
              <a:ext uri="{FF2B5EF4-FFF2-40B4-BE49-F238E27FC236}">
                <a16:creationId xmlns:a16="http://schemas.microsoft.com/office/drawing/2014/main" id="{E2DD5DBD-B812-BA8A-EAF6-0573368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990" y="1509240"/>
            <a:ext cx="474857" cy="473280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05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534BCF8-E0C3-F408-E40C-7D100D0F54A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30724" y="2536644"/>
            <a:ext cx="5554389" cy="3589337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/>
            </a:lvl1pPr>
            <a:lvl2pPr marL="800100" indent="-342900">
              <a:buFont typeface="Arial"/>
              <a:buChar char="•"/>
              <a:defRPr/>
            </a:lvl2pPr>
            <a:lvl3pPr marL="1257300" indent="-342900">
              <a:buFont typeface="Arial"/>
              <a:buChar char="•"/>
              <a:defRPr/>
            </a:lvl3pPr>
            <a:lvl4pPr marL="1657350" indent="-285750">
              <a:buFont typeface="Arial"/>
              <a:buChar char="•"/>
              <a:defRPr/>
            </a:lvl4pPr>
            <a:lvl5pPr marL="2114550" indent="-285750"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24">
            <a:extLst xmlns:a="http://schemas.openxmlformats.org/drawingml/2006/main">
              <a:ext uri="{FF2B5EF4-FFF2-40B4-BE49-F238E27FC236}">
                <a16:creationId xmlns:a16="http://schemas.microsoft.com/office/drawing/2014/main" id="{C4812439-4AE9-00AD-CD7D-4B8F8ACC13B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230725" y="1478296"/>
            <a:ext cx="4666492" cy="105834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 kern="1200">
                <a:solidFill>
                  <a:srgbClr val="C5050C"/>
                </a:solidFill>
                <a:latin typeface="Red Hat Display"/>
                <a:ea typeface="Red Hat Display"/>
                <a:cs typeface="Red Hat Display"/>
              </a:defRPr>
            </a:lvl1pPr>
          </a:lstStyle>
          <a:p xmlns:a="http://schemas.openxmlformats.org/drawingml/2006/main">
            <a:r>
              <a:rPr sz="36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Slide with chart and a few bullets</a:t>
            </a:r>
          </a:p>
        </p:txBody>
      </p:sp>
      <p:sp>
        <p:nvSpPr>
          <p:cNvPr id="5" name="Chart Placeholder 4">
            <a:extLst xmlns:a="http://schemas.openxmlformats.org/drawingml/2006/main">
              <a:ext uri="{FF2B5EF4-FFF2-40B4-BE49-F238E27FC236}">
                <a16:creationId xmlns:a16="http://schemas.microsoft.com/office/drawing/2014/main" id="{78E80C19-B00E-A916-2895-49F928BDC0B9}"/>
              </a:ext>
            </a:extLst>
          </p:cNvPr>
          <p:cNvSpPr>
            <a:spLocks xmlns:a="http://schemas.openxmlformats.org/drawingml/2006/main" noGrp="1"/>
          </p:cNvSpPr>
          <p:nvPr>
            <p:ph type="chart" idx="14"/>
          </p:nvPr>
        </p:nvSpPr>
        <p:spPr>
          <a:xfrm xmlns:a="http://schemas.openxmlformats.org/drawingml/2006/main">
            <a:off x="7325324" y="21580"/>
            <a:ext cx="4540250" cy="4533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chart</a:t>
            </a:r>
            <a:endParaRPr/>
          </a:p>
        </p:txBody>
      </p:sp>
      <p:pic>
        <p:nvPicPr>
          <p:cNvPr id="3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5496cbb944e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Slide with larger chart and bulle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959274a9846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96E0F4-D992-CB5A-F8EB-F06C8D7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205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38EFCFE-455F-4A43-953A-4ED9B47F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87B38032-8EEA-4F94-B59B-6A07B3B1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C6F2FAFA-CFAE-4C18-8184-DD4E4AC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EEAA8D3F-58D0-46C6-832F-1E480E69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A4149000-EF95-4132-9A17-C6E22FE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5BE80AA4-C648-4930-AE67-DA326D5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Graphic 53">
            <a:extLst xmlns:a="http://schemas.openxmlformats.org/drawingml/2006/main">
              <a:ext uri="{FF2B5EF4-FFF2-40B4-BE49-F238E27FC236}">
                <a16:creationId xmlns:a16="http://schemas.microsoft.com/office/drawing/2014/main" id="{33FE69DD-D4A9-8434-64ED-14F6670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3095" y="775529"/>
            <a:ext cx="529821" cy="528062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solidFill xmlns:a="http://schemas.openxmlformats.org/drawingml/2006/main">
            <a:srgbClr val="DADFE1"/>
          </a:solidFill>
          <a:ln xmlns:a="http://schemas.openxmlformats.org/drawingml/2006/main" w="4534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16" name="Graphic 53">
            <a:extLst xmlns:a="http://schemas.openxmlformats.org/drawingml/2006/main">
              <a:ext uri="{FF2B5EF4-FFF2-40B4-BE49-F238E27FC236}">
                <a16:creationId xmlns:a16="http://schemas.microsoft.com/office/drawing/2014/main" id="{E2DD5DBD-B812-BA8A-EAF6-0573368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0564" y="845484"/>
            <a:ext cx="474857" cy="473280"/>
          </a:xfrm>
          <a:custGeom xmlns:a="http://schemas.openxmlformats.org/drawingml/2006/main">
            <a:gdLst>
              <a:gd name="connsiteX0" fmla="*/ 2162124 w 2247106"/>
              <a:gd name="connsiteY0" fmla="*/ 1223917 h 2239647"/>
              <a:gd name="connsiteX1" fmla="*/ 2162124 w 2247106"/>
              <a:gd name="connsiteY1" fmla="*/ 1015659 h 2239647"/>
              <a:gd name="connsiteX2" fmla="*/ 205168 w 2247106"/>
              <a:gd name="connsiteY2" fmla="*/ 22545 h 2239647"/>
              <a:gd name="connsiteX3" fmla="*/ 0 w 2247106"/>
              <a:gd name="connsiteY3" fmla="*/ 148491 h 2239647"/>
              <a:gd name="connsiteX4" fmla="*/ 0 w 2247106"/>
              <a:gd name="connsiteY4" fmla="*/ 2091176 h 2239647"/>
              <a:gd name="connsiteX5" fmla="*/ 205168 w 2247106"/>
              <a:gd name="connsiteY5" fmla="*/ 2217122 h 2239647"/>
              <a:gd name="connsiteX6" fmla="*/ 2162124 w 2247106"/>
              <a:gd name="connsiteY6" fmla="*/ 1223917 h 2239647"/>
            </a:gdLst>
            <a:rect l="l" t="t" r="r" b="b"/>
            <a:pathLst>
              <a:path w="2247106" h="2239647">
                <a:moveTo>
                  <a:pt x="2162124" y="1223917"/>
                </a:moveTo>
                <a:cubicBezTo>
                  <a:pt x="2275435" y="1166421"/>
                  <a:pt x="2275435" y="1073200"/>
                  <a:pt x="2162124" y="1015659"/>
                </a:cubicBezTo>
                <a:lnTo>
                  <a:pt x="205168" y="22545"/>
                </a:lnTo>
                <a:cubicBezTo>
                  <a:pt x="91857" y="-34996"/>
                  <a:pt x="0" y="21409"/>
                  <a:pt x="0" y="148491"/>
                </a:cubicBezTo>
                <a:lnTo>
                  <a:pt x="0" y="2091176"/>
                </a:lnTo>
                <a:cubicBezTo>
                  <a:pt x="0" y="2218258"/>
                  <a:pt x="91857" y="2274618"/>
                  <a:pt x="205168" y="2217122"/>
                </a:cubicBezTo>
                <a:lnTo>
                  <a:pt x="2162124" y="1223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050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0" i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534BCF8-E0C3-F408-E40C-7D100D0F54A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460582" y="1726967"/>
            <a:ext cx="3944018" cy="3713221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/>
            </a:lvl1pPr>
            <a:lvl2pPr marL="800100" indent="-342900">
              <a:buFont typeface="Arial"/>
              <a:buChar char="•"/>
              <a:defRPr/>
            </a:lvl2pPr>
            <a:lvl3pPr marL="1257300" indent="-342900">
              <a:buFont typeface="Arial"/>
              <a:buChar char="•"/>
              <a:defRPr/>
            </a:lvl3pPr>
            <a:lvl4pPr marL="1657350" indent="-285750">
              <a:buFont typeface="Arial"/>
              <a:buChar char="•"/>
              <a:defRPr/>
            </a:lvl4pPr>
            <a:lvl5pPr marL="2114550" indent="-285750"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24">
            <a:extLst xmlns:a="http://schemas.openxmlformats.org/drawingml/2006/main">
              <a:ext uri="{FF2B5EF4-FFF2-40B4-BE49-F238E27FC236}">
                <a16:creationId xmlns:a16="http://schemas.microsoft.com/office/drawing/2014/main" id="{C4812439-4AE9-00AD-CD7D-4B8F8ACC13B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441299" y="814540"/>
            <a:ext cx="8870008" cy="58071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1" i="0" kern="1200">
                <a:solidFill>
                  <a:srgbClr val="C5050C"/>
                </a:solidFill>
                <a:latin typeface="Red Hat Display"/>
                <a:ea typeface="Red Hat Display"/>
                <a:cs typeface="Red Hat Display"/>
              </a:defRPr>
            </a:lvl1pPr>
          </a:lstStyle>
          <a:p xmlns:a="http://schemas.openxmlformats.org/drawingml/2006/main">
            <a:r>
              <a:rPr sz="36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Slide with larger chart and a few bullets</a:t>
            </a:r>
          </a:p>
        </p:txBody>
      </p:sp>
      <p:sp>
        <p:nvSpPr>
          <p:cNvPr id="5" name="Chart Placeholder 4">
            <a:extLst xmlns:a="http://schemas.openxmlformats.org/drawingml/2006/main">
              <a:ext uri="{FF2B5EF4-FFF2-40B4-BE49-F238E27FC236}">
                <a16:creationId xmlns:a16="http://schemas.microsoft.com/office/drawing/2014/main" id="{78E80C19-B00E-A916-2895-49F928BDC0B9}"/>
              </a:ext>
            </a:extLst>
          </p:cNvPr>
          <p:cNvSpPr>
            <a:spLocks xmlns:a="http://schemas.openxmlformats.org/drawingml/2006/main" noGrp="1"/>
          </p:cNvSpPr>
          <p:nvPr>
            <p:ph type="chart" idx="14"/>
          </p:nvPr>
        </p:nvSpPr>
        <p:spPr>
          <a:xfrm xmlns:a="http://schemas.openxmlformats.org/drawingml/2006/main">
            <a:off x="466471" y="1722850"/>
            <a:ext cx="6704796" cy="45594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chart</a:t>
            </a:r>
            <a:endParaRPr/>
          </a:p>
        </p:txBody>
      </p:sp>
      <p:pic>
        <p:nvPicPr>
          <p:cNvPr id="3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84cc84e5c43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Basic text-only slide with foo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C28D9D5-FE3B-19B9-7F38-02F458ABF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47C66B-3CA7-2755-34BB-BFC241AE3A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989667"/>
            <a:ext cx="10515600" cy="4187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84729B-0F69-C015-6BA6-7B0391628A8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Red Hat Text"/>
                <a:ea typeface="Red Hat Text"/>
                <a:cs typeface="Red Hat Text"/>
              </a:defRPr>
            </a:lvl1pPr>
          </a:lstStyle>
          <a:p xmlns:a="http://schemas.openxmlformats.org/drawingml/2006/main">
            <a:fld id="{71E74D79-3CAD-F144-8AA5-33BB7B815549}" type="datetimeFigureOut">
              <a:t>8/5/26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3AE94A-6E70-F899-AD88-C5D9CF52768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Red Hat Text"/>
                <a:ea typeface="Red Hat Text"/>
                <a:cs typeface="Red Hat Tex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2A658A-2C1B-A850-1F0D-F444708635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Red Hat Text"/>
                <a:ea typeface="Red Hat Text"/>
                <a:cs typeface="Red Hat Text"/>
              </a:defRPr>
            </a:lvl1pPr>
          </a:lstStyle>
          <a:p xmlns:a="http://schemas.openxmlformats.org/drawingml/2006/main">
            <a:fld id="{2D34B83F-3383-5F43-BEBE-D2291784657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7212330-4218-5140-F2B5-B57236D63C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A51CF5-F8E1-6A1F-1DAC-197D85FE26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1E74D79-3CAD-F144-8AA5-33BB7B815549}" type="datetimeFigureOut">
              <a:t>8/5/26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C326BC-2036-CBCA-1C66-ED8A70C67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24D9A4-27F0-480C-7DD0-450430C7E8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34B83F-3383-5F43-BEBE-D2291784657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8d80da2dc44332" /><Relationship Type="http://schemas.openxmlformats.org/officeDocument/2006/relationships/slideLayout" Target="/ppt/slideLayouts/slideLayout1.xml" Id="R4a0f6bbda00b4207" /><Relationship Type="http://schemas.openxmlformats.org/officeDocument/2006/relationships/slideLayout" Target="/ppt/slideLayouts/slideLayout2.xml" Id="R0a8cf7feecd14389" /><Relationship Type="http://schemas.openxmlformats.org/officeDocument/2006/relationships/slideLayout" Target="/ppt/slideLayouts/slideLayout3.xml" Id="R5fd312c4b92b4ae7" /><Relationship Type="http://schemas.openxmlformats.org/officeDocument/2006/relationships/slideLayout" Target="/ppt/slideLayouts/slideLayout4.xml" Id="R36d74fad6de44578" /><Relationship Type="http://schemas.openxmlformats.org/officeDocument/2006/relationships/slideLayout" Target="/ppt/slideLayouts/slideLayout5.xml" Id="R41b32e17c9444693" /><Relationship Type="http://schemas.openxmlformats.org/officeDocument/2006/relationships/slideLayout" Target="/ppt/slideLayouts/slideLayout6.xml" Id="R2ca70082e6ad4766" /><Relationship Type="http://schemas.openxmlformats.org/officeDocument/2006/relationships/slideLayout" Target="/ppt/slideLayouts/slideLayout7.xml" Id="Red1b2984378542ca" /><Relationship Type="http://schemas.openxmlformats.org/officeDocument/2006/relationships/slideLayout" Target="/ppt/slideLayouts/slideLayout8.xml" Id="Raf58e28673f34d1c" /><Relationship Type="http://schemas.openxmlformats.org/officeDocument/2006/relationships/slideLayout" Target="/ppt/slideLayouts/slideLayout9.xml" Id="R5716208fe28c40ba" /><Relationship Type="http://schemas.openxmlformats.org/officeDocument/2006/relationships/slideLayout" Target="/ppt/slideLayouts/slideLayout10.xml" Id="R0063aa66567b46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C0F8AA-4A6F-B1DD-434D-83621C5B2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BF05C4-B9F1-30A9-A6E2-B5AC5B0C8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079375"/>
            <a:ext cx="10515600" cy="3097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E531C7-9462-71E5-097F-42A085F5E18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Red Hat Text"/>
                <a:ea typeface="Red Hat Text"/>
                <a:cs typeface="Red Hat Text"/>
              </a:defRPr>
            </a:lvl1pPr>
          </a:lstStyle>
          <a:p xmlns:a="http://schemas.openxmlformats.org/drawingml/2006/main">
            <a:fld id="{71E74D79-3CAD-F144-8AA5-33BB7B815549}" type="datetimeFigureOut">
              <a:t>8/5/26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BAC5A0-C9A5-7414-2D7E-D3101A5505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Red Hat Text"/>
                <a:ea typeface="Red Hat Text"/>
                <a:cs typeface="Red Hat Tex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89FDF2-834C-141E-439D-C8320FDE533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Red Hat Text"/>
                <a:ea typeface="Red Hat Text"/>
                <a:cs typeface="Red Hat Text"/>
              </a:defRPr>
            </a:lvl1pPr>
          </a:lstStyle>
          <a:p xmlns:a="http://schemas.openxmlformats.org/drawingml/2006/main">
            <a:fld id="{2D34B83F-3383-5F43-BEBE-D2291784657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f6bbda00b4207"/>
    <p:sldLayoutId xmlns:r="http://schemas.openxmlformats.org/officeDocument/2006/relationships" id="2147483650" r:id="R0a8cf7feecd14389"/>
    <p:sldLayoutId xmlns:r="http://schemas.openxmlformats.org/officeDocument/2006/relationships" id="2147483651" r:id="R5fd312c4b92b4ae7"/>
    <p:sldLayoutId xmlns:r="http://schemas.openxmlformats.org/officeDocument/2006/relationships" id="2147483652" r:id="R36d74fad6de44578"/>
    <p:sldLayoutId xmlns:r="http://schemas.openxmlformats.org/officeDocument/2006/relationships" id="2147483653" r:id="R41b32e17c9444693"/>
    <p:sldLayoutId xmlns:r="http://schemas.openxmlformats.org/officeDocument/2006/relationships" id="2147483654" r:id="R2ca70082e6ad4766"/>
    <p:sldLayoutId xmlns:r="http://schemas.openxmlformats.org/officeDocument/2006/relationships" id="2147483655" r:id="Red1b2984378542ca"/>
    <p:sldLayoutId xmlns:r="http://schemas.openxmlformats.org/officeDocument/2006/relationships" id="2147483656" r:id="Raf58e28673f34d1c"/>
    <p:sldLayoutId xmlns:r="http://schemas.openxmlformats.org/officeDocument/2006/relationships" id="2147483657" r:id="R5716208fe28c40ba"/>
    <p:sldLayoutId xmlns:r="http://schemas.openxmlformats.org/officeDocument/2006/relationships" id="2147483658" r:id="R0063aa66567b46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Red Hat Display"/>
          <a:ea typeface="Red Hat Display"/>
          <a:cs typeface="Red Hat Display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Font typeface="Arial"/>
        <a:buNone/>
        <a:defRPr sz="2800" kern="1200">
          <a:solidFill>
            <a:schemeClr val="tx1"/>
          </a:solidFill>
          <a:latin typeface="Red Hat Display"/>
          <a:ea typeface="Red Hat Display"/>
          <a:cs typeface="Red Hat Display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Red Hat Display"/>
          <a:ea typeface="Red Hat Display"/>
          <a:cs typeface="Red Hat Display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tx1"/>
          </a:solidFill>
          <a:latin typeface="Red Hat Display"/>
          <a:ea typeface="Red Hat Display"/>
          <a:cs typeface="Red Hat Display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Red Hat Display"/>
          <a:ea typeface="Red Hat Display"/>
          <a:cs typeface="Red Hat Display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Red Hat Display"/>
          <a:ea typeface="Red Hat Display"/>
          <a:cs typeface="Red Hat Display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DI master slide layouts">
  <a:themeElements>
    <a:clrScheme name="Extension - CDI">
      <a:dk1>
        <a:srgbClr val="000000"/>
      </a:dk1>
      <a:lt1>
        <a:srgbClr val="FFFFFF"/>
      </a:lt1>
      <a:dk2>
        <a:srgbClr val="333333"/>
      </a:dk2>
      <a:lt2>
        <a:srgbClr val="F7F7F7"/>
      </a:lt2>
      <a:accent1>
        <a:srgbClr val="C5050C"/>
      </a:accent1>
      <a:accent2>
        <a:srgbClr val="9B0000"/>
      </a:accent2>
      <a:accent3>
        <a:srgbClr val="DF8619"/>
      </a:accent3>
      <a:accent4>
        <a:srgbClr val="7095A7"/>
      </a:accent4>
      <a:accent5>
        <a:srgbClr val="3D6D82"/>
      </a:accent5>
      <a:accent6>
        <a:srgbClr val="A1AF7B"/>
      </a:accent6>
      <a:hlink>
        <a:srgbClr val="0478A7"/>
      </a:hlink>
      <a:folHlink>
        <a:srgbClr val="0478A7"/>
      </a:folHlink>
    </a:clrScheme>
    <a:fontScheme name="Red Hat Display Bold - Red Hat Text Regular">
      <a:majorFont>
        <a:latin typeface="Red Hat Display Bold"/>
        <a:ea typeface=""/>
        <a:cs typeface=""/>
      </a:majorFont>
      <a:minorFont>
        <a:latin typeface="Red Hat Text Regular"/>
        <a:ea typeface=""/>
        <a:cs typeface=""/>
      </a:minorFont>
    </a:fontScheme>
    <a:fmtScheme name="Extension - CDI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aadca3c028747b5" /><Relationship Type="http://schemas.openxmlformats.org/officeDocument/2006/relationships/image" Target="/ppt/media/image2.png" Id="Rce24de7f1b45416d" /><Relationship Type="http://schemas.openxmlformats.org/officeDocument/2006/relationships/image" Target="/ppt/media/image.png" Id="R3d4f8200836247c8" /><Relationship Type="http://schemas.openxmlformats.org/officeDocument/2006/relationships/notesSlide" Target="/ppt/notesSlides/notesSlide1.xml" Id="R9efd0cea863e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2a14934cc314763" /><Relationship Type="http://schemas.openxmlformats.org/officeDocument/2006/relationships/image" Target="/ppt/media/image.png" Id="R2e1b38a68ea64390" /><Relationship Type="http://schemas.openxmlformats.org/officeDocument/2006/relationships/image" Target="/ppt/media/image2.png" Id="R7a6a34963f934ff3" /><Relationship Type="http://schemas.openxmlformats.org/officeDocument/2006/relationships/notesSlide" Target="/ppt/notesSlides/notesSlide2.xml" Id="R9a799dc77f44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a72076df0ff4481" /><Relationship Type="http://schemas.openxmlformats.org/officeDocument/2006/relationships/image" Target="/ppt/media/image.png" Id="R35d270db69d94acb" /><Relationship Type="http://schemas.openxmlformats.org/officeDocument/2006/relationships/image" Target="/ppt/media/image2.png" Id="R9aa41e389ea74e1f" /><Relationship Type="http://schemas.openxmlformats.org/officeDocument/2006/relationships/image" Target="/ppt/media/image3.png" Id="R43d5be6db54d4b5c" /><Relationship Type="http://schemas.openxmlformats.org/officeDocument/2006/relationships/image" Target="/ppt/media/image.svg" Id="Rac1de38330bf4f00" /><Relationship Type="http://schemas.openxmlformats.org/officeDocument/2006/relationships/image" Target="/ppt/media/image2.svg" Id="R2421c101059e447d" /><Relationship Type="http://schemas.openxmlformats.org/officeDocument/2006/relationships/notesSlide" Target="/ppt/notesSlides/notesSlide3.xml" Id="Rf15eabe10eb64a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f229add50334623" /><Relationship Type="http://schemas.openxmlformats.org/officeDocument/2006/relationships/image" Target="/ppt/media/image.png" Id="R31b60653e62d4f63" /><Relationship Type="http://schemas.openxmlformats.org/officeDocument/2006/relationships/image" Target="/ppt/media/image2.png" Id="R2b71c6ff0cf14867" /><Relationship Type="http://schemas.openxmlformats.org/officeDocument/2006/relationships/notesSlide" Target="/ppt/notesSlides/notesSlide4.xml" Id="Rcb3d042f72aa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c2e30beee214a35" /><Relationship Type="http://schemas.openxmlformats.org/officeDocument/2006/relationships/image" Target="/ppt/media/image.png" Id="R9b366589b01e461f" /><Relationship Type="http://schemas.openxmlformats.org/officeDocument/2006/relationships/image" Target="/ppt/media/image3.png" Id="Ra8019355138a4a1a" /><Relationship Type="http://schemas.openxmlformats.org/officeDocument/2006/relationships/image" Target="/ppt/media/image4.png" Id="R0c4e8e5a3c9d45da" /><Relationship Type="http://schemas.openxmlformats.org/officeDocument/2006/relationships/notesSlide" Target="/ppt/notesSlides/notesSlide5.xml" Id="Rb8e48979c34f49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e0cb7d60cf348a7" /><Relationship Type="http://schemas.openxmlformats.org/officeDocument/2006/relationships/image" Target="/ppt/media/image.png" Id="R959265edda7f43a2" /><Relationship Type="http://schemas.openxmlformats.org/officeDocument/2006/relationships/image" Target="/ppt/media/image2.png" Id="Rfbb7c4f20f2c4f45" /><Relationship Type="http://schemas.openxmlformats.org/officeDocument/2006/relationships/notesSlide" Target="/ppt/notesSlides/notesSlide6.xml" Id="R18519f04b26e41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0c4571163ee4b31" /><Relationship Type="http://schemas.openxmlformats.org/officeDocument/2006/relationships/chart" Target="/ppt/slides/charts/chart1.xml" Id="R9a26ab27883d4cd8" /><Relationship Type="http://schemas.openxmlformats.org/officeDocument/2006/relationships/chart" Target="/ppt/slides/charts/chart2.xml" Id="R89cf94fc2c2d4836" /><Relationship Type="http://schemas.openxmlformats.org/officeDocument/2006/relationships/image" Target="/ppt/media/image.png" Id="R5cbd9c91dfc54bcb" /><Relationship Type="http://schemas.openxmlformats.org/officeDocument/2006/relationships/image" Target="/ppt/media/image2.png" Id="R95f328d8fba94890" /><Relationship Type="http://schemas.openxmlformats.org/officeDocument/2006/relationships/notesSlide" Target="/ppt/notesSlides/notesSlide7.xml" Id="R83eb08b78f5742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df32189a828443f" /><Relationship Type="http://schemas.openxmlformats.org/officeDocument/2006/relationships/image" Target="/ppt/media/image.png" Id="R7998da978523464a" /><Relationship Type="http://schemas.openxmlformats.org/officeDocument/2006/relationships/image" Target="/ppt/media/image2.png" Id="R09a4055b7d6d42d8" /><Relationship Type="http://schemas.openxmlformats.org/officeDocument/2006/relationships/notesSlide" Target="/ppt/notesSlides/notesSlide8.xml" Id="R9075d7723417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6151d28a7a24942" /><Relationship Type="http://schemas.openxmlformats.org/officeDocument/2006/relationships/image" Target="/ppt/media/image.png" Id="R47d719da1f4d4969" /><Relationship Type="http://schemas.openxmlformats.org/officeDocument/2006/relationships/image" Target="/ppt/media/image2.png" Id="R55ec5834ce564572" /><Relationship Type="http://schemas.openxmlformats.org/officeDocument/2006/relationships/image" Target="/ppt/media/image5.png" Id="R6ace8caa2b654063" /><Relationship Type="http://schemas.openxmlformats.org/officeDocument/2006/relationships/image" Target="/ppt/media/image3.svg" Id="R060ba1daabcf4340" /><Relationship Type="http://schemas.openxmlformats.org/officeDocument/2006/relationships/notesSlide" Target="/ppt/notesSlides/notesSlide9.xml" Id="R4bb147617a5d4b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e07b7f8b04f4d0a" /><Relationship Type="http://schemas.openxmlformats.org/officeDocument/2006/relationships/image" Target="/ppt/media/image.png" Id="Rb076eb05e7e64a32" /><Relationship Type="http://schemas.openxmlformats.org/officeDocument/2006/relationships/image" Target="/ppt/media/image2.png" Id="Rd5289fbb9ef2453c" /><Relationship Type="http://schemas.openxmlformats.org/officeDocument/2006/relationships/notesSlide" Target="/ppt/notesSlides/notesSlide10.xml" Id="Ra6e6fa7e10324e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8f87981a5ac47d5" /><Relationship Type="http://schemas.openxmlformats.org/officeDocument/2006/relationships/chart" Target="/ppt/slides/charts/chart3.xml" Id="Rd22b99653cc846e1" /><Relationship Type="http://schemas.openxmlformats.org/officeDocument/2006/relationships/image" Target="/ppt/media/image.png" Id="Raf8b4d75d8d14f68" /><Relationship Type="http://schemas.openxmlformats.org/officeDocument/2006/relationships/image" Target="/ppt/media/image2.png" Id="Rda9a2bcced334e7c" /><Relationship Type="http://schemas.openxmlformats.org/officeDocument/2006/relationships/notesSlide" Target="/ppt/notesSlides/notesSlide11.xml" Id="Rff2c9d5e1b9a4a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12241529b6c488a" /><Relationship Type="http://schemas.openxmlformats.org/officeDocument/2006/relationships/image" Target="/ppt/media/image.png" Id="R520d68d3d0694534" /><Relationship Type="http://schemas.openxmlformats.org/officeDocument/2006/relationships/image" Target="/ppt/media/image2.png" Id="R3592bcfce6254704" /><Relationship Type="http://schemas.openxmlformats.org/officeDocument/2006/relationships/notesSlide" Target="/ppt/notesSlides/notesSlide12.xml" Id="Rca19b81adb0749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0fa1e27f4cb4c84" /><Relationship Type="http://schemas.openxmlformats.org/officeDocument/2006/relationships/image" Target="/ppt/media/image.png" Id="R6e469312e86c4337" /><Relationship Type="http://schemas.openxmlformats.org/officeDocument/2006/relationships/image" Target="/ppt/media/image2.png" Id="Rfb2f50eca3654b0d" /><Relationship Type="http://schemas.openxmlformats.org/officeDocument/2006/relationships/notesSlide" Target="/ppt/notesSlides/notesSlide13.xml" Id="R10895f61d77c46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ea5cea8fe9b4538" /><Relationship Type="http://schemas.openxmlformats.org/officeDocument/2006/relationships/image" Target="/ppt/media/image.png" Id="Rcb3efb4042f24397" /><Relationship Type="http://schemas.openxmlformats.org/officeDocument/2006/relationships/image" Target="/ppt/media/image2.png" Id="R325846ec982e48df" /><Relationship Type="http://schemas.openxmlformats.org/officeDocument/2006/relationships/notesSlide" Target="/ppt/notesSlides/notesSlide14.xml" Id="R798a1fe26bc64b84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xmlns:a="http://schemas.openxmlformats.org/drawingml/2006/main">
              <a:noFill/>
            </a:ln>
          </c:spPr>
          <c:dPt>
            <c:idx val="0"/>
            <c:spPr>
              <a:solidFill xmlns:a="http://schemas.openxmlformats.org/drawingml/2006/main">
                <a:schemeClr val="accent2"/>
              </a:solidFill>
              <a:ln xmlns:a="http://schemas.openxmlformats.org/drawingml/2006/main" w="19050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 w="19050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3"/>
              </a:solidFill>
              <a:ln xmlns:a="http://schemas.openxmlformats.org/drawingml/2006/main" w="19050">
                <a:noFill/>
              </a:ln>
            </c:spPr>
          </c:dPt>
          <c:dPt>
            <c:idx val="3"/>
            <c:spPr>
              <a:solidFill xmlns:a="http://schemas.openxmlformats.org/drawingml/2006/main">
                <a:schemeClr val="accent4"/>
              </a:solidFill>
              <a:ln xmlns:a="http://schemas.openxmlformats.org/drawingml/2006/main" w="19050">
                <a:noFill/>
              </a:ln>
            </c:spPr>
          </c:dPt>
          <c:cat>
            <c:strRef>
              <c:f>Sheet1!$A$2:$A$5</c:f>
              <c:strCache>
                <c:ptCount val="0"/>
              </c:strCache>
            </c:strRef>
          </c:cat>
          <c:val>
            <c:numRef>
              <c:f>Sheet1!$B$2:$B$5</c:f>
              <c:numCache>
                <c:formatCode>0%</c:formatCode>
                <c:ptCount val="2"/>
                <c:pt idx="0">
                  <c:v>0.915</c:v>
                </c:pt>
                <c:pt idx="1">
                  <c:v>0.085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xmlns:a="http://schemas.openxmlformats.org/drawingml/2006/main">
              <a:noFill/>
            </a:ln>
          </c:spPr>
          <c:dPt>
            <c:idx val="0"/>
            <c:spPr>
              <a:solidFill xmlns:a="http://schemas.openxmlformats.org/drawingml/2006/main">
                <a:schemeClr val="accent2"/>
              </a:solidFill>
              <a:ln xmlns:a="http://schemas.openxmlformats.org/drawingml/2006/main" w="19050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 w="19050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3"/>
              </a:solidFill>
              <a:ln xmlns:a="http://schemas.openxmlformats.org/drawingml/2006/main" w="19050">
                <a:noFill/>
              </a:ln>
            </c:spPr>
          </c:dPt>
          <c:dPt>
            <c:idx val="3"/>
            <c:spPr>
              <a:solidFill xmlns:a="http://schemas.openxmlformats.org/drawingml/2006/main">
                <a:schemeClr val="accent4"/>
              </a:solidFill>
              <a:ln xmlns:a="http://schemas.openxmlformats.org/drawingml/2006/main" w="19050">
                <a:noFill/>
              </a:ln>
            </c:spPr>
          </c:dPt>
          <c:cat>
            <c:strRef>
              <c:f>Sheet1!$A$2:$A$5</c:f>
              <c:strCache>
                <c:ptCount val="0"/>
              </c:strCache>
            </c:strRef>
          </c:cat>
          <c:val>
            <c:numRef>
              <c:f>Sheet1!$B$2:$B$5</c:f>
              <c:numCache>
                <c:formatCode>0%</c:formatCode>
                <c:ptCount val="2"/>
                <c:pt idx="0">
                  <c:v>0.306</c:v>
                </c:pt>
                <c:pt idx="1">
                  <c:v>0.694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spPr>
            <a:solidFill xmlns:a="http://schemas.openxmlformats.org/drawingml/2006/main">
              <a:schemeClr val="accent2">
                <a:alpha val="70000"/>
              </a:schemeClr>
            </a:solidFill>
            <a:ln xmlns:a="http://schemas.openxmlformats.org/drawingml/2006/main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chemeClr val="tx1">
                  <a:lumMod val="50000"/>
                  <a:lumOff val="50000"/>
                  <a:alpha val="70000"/>
                </a:schemeClr>
              </a:solidFill>
              <a:ln xmlns:a="http://schemas.openxmlformats.org/drawingml/2006/main">
                <a:noFill/>
              </a:ln>
            </c:spPr>
          </c:dPt>
          <c:dLbls>
            <c:delete val="1"/>
          </c:dLbls>
          <c:cat>
            <c:strLit>
              <c:ptCount val="0"/>
            </c:strLit>
          </c:cat>
          <c:val>
            <c:numRef>
              <c:f>Sheet3!$B$98:$B$99</c:f>
              <c:numCache>
                <c:formatCode>0%</c:formatCode>
                <c:ptCount val="2"/>
                <c:pt idx="0">
                  <c:v>0.185</c:v>
                </c:pt>
                <c:pt idx="1">
                  <c:v>0.485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562362272"/>
        <c:axId val="1112869808"/>
      </c:barChart>
      <c:catAx>
        <c:axId val="1562362272"/>
        <c:scaling>
          <c:orientation val="minMax"/>
        </c:scaling>
        <c:delete val="1"/>
        <c:axPos val="b"/>
        <c:numFmt formatCode="General"/>
        <c:majorTickMark val="none"/>
        <c:minorTickMark val="none"/>
        <c:tickLblPos val="nextTo"/>
        <c:crossAx val="1112869808"/>
        <c:crosses val="autoZero"/>
      </c:catAx>
      <c:valAx>
        <c:axId val="11128698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6236227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4de7f1b45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E11BE359-F5AB-4307-A5C0-B39D449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768022C8-2456-40ED-B723-330FE2F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E90D3360-EF7E-49D9-BED8-73478661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74DACB8-C860-4D89-AC68-802AE3B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AE4D37C-1BFE-14B8-A11E-236FBDCD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285" y="4648200"/>
            <a:ext cx="474726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 cap="all">
                <a:solidFill>
                  <a:srgbClr val="646569"/>
                </a:solidFill>
                <a:latin typeface="Red Hat Display SemiBold"/>
                <a:ea typeface="Red Hat Display SemiBold"/>
                <a:cs typeface="Red Hat Display SemiBold"/>
              </a:rPr>
              <a:t>August 2026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3B8D5C39-95F8-4916-B05C-6B45D605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0" y="4426845"/>
            <a:ext cx="1562100" cy="0"/>
          </a:xfrm>
          <a:prstGeom xmlns:a="http://schemas.openxmlformats.org/drawingml/2006/main" prst="line">
            <a:avLst/>
          </a:prstGeom>
          <a:ln xmlns:a="http://schemas.openxmlformats.org/drawingml/2006/main" w="88900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f8200836247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4930" y="-179826"/>
            <a:ext cx="5976248" cy="2592533"/>
          </a:xfrm>
          <a:prstGeom xmlns:a="http://schemas.openxmlformats.org/drawingml/2006/main" prst="rect">
            <a:avLst/>
          </a:prstGeom>
        </p:spPr>
      </p:pic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9EFEB9AF-FAB6-425A-A422-31B8A7F5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875071" y="-218888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3EF0F67F-BBC9-49A3-AA21-4A869F21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875071" y="-115650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BD059A-5B87-FA11-86A9-3C5BCD14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285" y="2518347"/>
            <a:ext cx="7783369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00" b="1">
                <a:solidFill>
                  <a:srgbClr val="C5050C"/>
                </a:solidFill>
                <a:latin typeface="Red Hat Display Black"/>
                <a:ea typeface="Red Hat Display Black"/>
                <a:cs typeface="Red Hat Display Black"/>
              </a:defRPr>
            </a:pPr>
            <a:r>
              <a:rPr sz="4000" b="1">
                <a:solidFill>
                  <a:srgbClr val="C5050C"/>
                </a:solidFill>
                <a:latin typeface="Red Hat Display Black"/>
                <a:ea typeface="Red Hat Display Black"/>
                <a:cs typeface="Red Hat Display Black"/>
              </a:rPr>
              <a:t>Six Things to Know
About Wisconsin
Small-Business Finance</a:t>
            </a:r>
          </a:p>
        </p:txBody>
      </p:sp>
    </p:spTree>
    <p:extLst>
      <p:ext uri="{BB962C8B-B14F-4D97-AF65-F5344CB8AC3E}">
        <p14:creationId xmlns:p14="http://schemas.microsoft.com/office/powerpoint/2010/main" val="4131411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b38a68ea64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a34963f934f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1.  Wisconsin has nearly half as many banking institutions as it did in 2000.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270db69d9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081EDD-5501-7FB2-D286-04973FC1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1e389ea7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372FC11-F457-4D66-A003-E23D020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7FB8F022-3609-4797-BB6D-B5923F86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F2DFAA43-F09E-4529-9E52-F3E8C01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BB0F4590-8E12-4747-827C-EBE1AFB8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407E790C-4BF9-489A-8D38-8D27625B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CBACCEF7-2EE4-4F64-9B48-9BB700C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Straight Connector 35">
            <a:extLst xmlns:a="http://schemas.openxmlformats.org/drawingml/2006/main">
              <a:ext uri="{FF2B5EF4-FFF2-40B4-BE49-F238E27FC236}">
                <a16:creationId xmlns:a16="http://schemas.microsoft.com/office/drawing/2014/main" id="{37AF9A1E-D8BB-49C8-A9D0-F6A7EA5B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7695914" y="2180818"/>
            <a:ext cx="0" cy="2150097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D5B2B7D8-10B1-3A25-9FCA-DAF412A2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2172" y="2935704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332A6FA9-EB62-13D9-A4C3-ED2F14E7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7959" y="2935704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727423A-37AB-4956-9645-CECC96E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 flipH="0" flipV="0">
            <a:off x="7684075" y="2195668"/>
            <a:ext cx="0" cy="2150097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99380783-CC02-6041-4130-12D66A0C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4138" y="2038813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B4F727FD-2906-9B60-AF0D-8876BB9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5992" y="3832594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CF8F1DB7-C15C-4CFA-976B-6FE83D8D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5454" y="2170918"/>
            <a:ext cx="0" cy="2150096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C0C1E92-B1B0-0061-DE0A-F4477BD9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0065" y="4164955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A375E9FA-23E4-767D-AA42-263F401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0065" y="1706452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Straight Connector 44">
            <a:extLst xmlns:a="http://schemas.openxmlformats.org/drawingml/2006/main">
              <a:ext uri="{FF2B5EF4-FFF2-40B4-BE49-F238E27FC236}">
                <a16:creationId xmlns:a16="http://schemas.microsoft.com/office/drawing/2014/main" id="{16915144-24EC-454E-A539-095A3353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0" flipV="0">
            <a:off x="7688512" y="2192057"/>
            <a:ext cx="0" cy="2150095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6EC2250D-6CCE-67AE-C116-3A529070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60717" y="3826766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1D0E3F1-14E7-8D7A-AAA8-1D2381A8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9412" y="2044641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5792F1DE-8165-2FFA-642C-497DFB7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0065" y="2946939"/>
            <a:ext cx="750777" cy="6403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endParaRPr sz="14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ACF4D62-ECB7-0A2E-9D78-1635DB7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80930" y="1389748"/>
            <a:ext cx="3042117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accent2"/>
                </a:solidFill>
                <a:latin typeface="Red Hat Display"/>
                <a:ea typeface="Red Hat Display"/>
                <a:cs typeface="Red Hat Display"/>
              </a:rPr>
              <a:t>Nearly</a:t>
            </a:r>
          </a:p>
          <a:p xmlns:a="http://schemas.openxmlformats.org/drawingml/2006/main">
            <a:r>
              <a:rPr sz="4800" b="1">
                <a:solidFill>
                  <a:schemeClr val="accent2"/>
                </a:solidFill>
                <a:latin typeface="Red Hat Display"/>
                <a:ea typeface="Red Hat Display"/>
                <a:cs typeface="Red Hat Display"/>
              </a:rPr>
              <a:t>HALF</a:t>
            </a:r>
            <a:r>
              <a:rPr sz="3600" b="1">
                <a:solidFill>
                  <a:schemeClr val="accent2"/>
                </a:solidFill>
                <a:latin typeface="Red Hat Display"/>
                <a:ea typeface="Red Hat Display"/>
                <a:cs typeface="Red Hat Display"/>
              </a:rPr>
              <a:t> </a:t>
            </a:r>
          </a:p>
          <a:p xmlns:a="http://schemas.openxmlformats.org/drawingml/2006/main">
            <a:r>
              <a:rPr sz="2800">
                <a:latin typeface="Red Hat Display"/>
                <a:ea typeface="Red Hat Display"/>
                <a:cs typeface="Red Hat Display"/>
              </a:rPr>
              <a:t>as many banking institutions operate in Wisconsin as in 2000</a:t>
            </a:r>
          </a:p>
        </p:txBody>
      </p:sp>
      <p:pic>
        <p:nvPicPr>
          <p:cNvPr id="82" name="Graphic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be6db54d4b5c">
            <a:extLst>
              <a:ext uri="{96DAC541-7B7A-43D3-8B79-37D633B846F1}">
                <asvg:svgBlip xmlns:asvg="http://schemas.microsoft.com/office/drawing/2016/SVG/main" r:embed="Rac1de38330bf4f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92099" y="2781032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3" name="Graphic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be6db54d4b5c">
            <a:extLst>
              <a:ext uri="{96DAC541-7B7A-43D3-8B79-37D633B846F1}">
                <asvg:svgBlip xmlns:asvg="http://schemas.microsoft.com/office/drawing/2016/SVG/main" r:embed="Rac1de38330bf4f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19467" y="1903222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4" name="Graphic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be6db54d4b5c">
            <a:extLst>
              <a:ext uri="{96DAC541-7B7A-43D3-8B79-37D633B846F1}">
                <asvg:svgBlip xmlns:asvg="http://schemas.microsoft.com/office/drawing/2016/SVG/main" r:embed="Rac1de38330bf4f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7610" y="1580228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5" name="Graphic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be6db54d4b5c">
            <a:extLst>
              <a:ext uri="{96DAC541-7B7A-43D3-8B79-37D633B846F1}">
                <asvg:svgBlip xmlns:asvg="http://schemas.microsoft.com/office/drawing/2016/SVG/main" r:embed="Rac1de38330bf4f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485803" y="1889312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6" name="Graphic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be6db54d4b5c">
            <a:extLst>
              <a:ext uri="{96DAC541-7B7A-43D3-8B79-37D633B846F1}">
                <asvg:svgBlip xmlns:asvg="http://schemas.microsoft.com/office/drawing/2016/SVG/main" r:embed="Rac1de38330bf4f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35413" y="2812528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7" name="Graphic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1e389ea74e1f">
            <a:extLst>
              <a:ext uri="{96DAC541-7B7A-43D3-8B79-37D633B846F1}">
                <asvg:svgBlip xmlns:asvg="http://schemas.microsoft.com/office/drawing/2016/SVG/main" r:embed="R2421c101059e44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75394" y="3734062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8" name="Graphic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1e389ea74e1f">
            <a:extLst>
              <a:ext uri="{96DAC541-7B7A-43D3-8B79-37D633B846F1}">
                <asvg:svgBlip xmlns:asvg="http://schemas.microsoft.com/office/drawing/2016/SVG/main" r:embed="R2421c101059e44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444097" y="3734062"/>
            <a:ext cx="567094" cy="617287"/>
          </a:xfrm>
          <a:prstGeom xmlns:a="http://schemas.openxmlformats.org/drawingml/2006/main" prst="rect">
            <a:avLst/>
          </a:prstGeom>
        </p:spPr>
      </p:pic>
      <p:pic>
        <p:nvPicPr>
          <p:cNvPr id="89" name="Graphic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1e389ea74e1f">
            <a:extLst>
              <a:ext uri="{96DAC541-7B7A-43D3-8B79-37D633B846F1}">
                <asvg:svgBlip xmlns:asvg="http://schemas.microsoft.com/office/drawing/2016/SVG/main" r:embed="R2421c101059e44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34696" y="4063507"/>
            <a:ext cx="567094" cy="6172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578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0653e62d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1c6ff0cf1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2.  A branch count can hide a long drive.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66589b01e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579CE8-0F55-CCE4-644D-C20B52E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BC266FF-748C-4C5F-B7C0-E6C6DAA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1F65A592-BE2F-48FE-B3C7-53FB6377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A61552A5-2665-4ADD-B526-93E441F5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809D58BC-5BD9-4B30-AED8-B6947034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F08323DD-4622-44F7-9C47-5C2BC1E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B7933847-9A8C-43DA-8FDC-297F4FF8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019355138a4a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35590" y="5760720"/>
            <a:ext cx="2147466" cy="868680"/>
          </a:xfrm>
          <a:prstGeom xmlns:a="http://schemas.openxmlformats.org/drawingml/2006/main" prst="rect">
            <a:avLst/>
          </a:prstGeom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52E35F7-3A64-85E7-C795-FE3632C9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6874" y="2065707"/>
            <a:ext cx="1378306" cy="1323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0" b="1">
                <a:solidFill>
                  <a:schemeClr val="accent5"/>
                </a:solidFill>
                <a:latin typeface="Imprint MT Shadow"/>
                <a:ea typeface="Imprint MT Shadow"/>
                <a:cs typeface="Imprint MT Shadow"/>
              </a:rPr>
              <a:t>5</a:t>
            </a:r>
            <a:r>
              <a:rPr sz="8000">
                <a:latin typeface="Red Hat Display"/>
                <a:ea typeface="Red Hat Display"/>
                <a:cs typeface="Red Hat Display"/>
              </a:rPr>
              <a:t>  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208618F-8F26-18EE-8C7A-0C7491B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8352" y="2056898"/>
            <a:ext cx="1728089" cy="1323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0" b="1">
                <a:solidFill>
                  <a:schemeClr val="accent5"/>
                </a:solidFill>
                <a:latin typeface="Imprint MT Shadow"/>
                <a:ea typeface="Imprint MT Shadow"/>
                <a:cs typeface="Imprint MT Shadow"/>
              </a:rPr>
              <a:t>10</a:t>
            </a:r>
            <a:r>
              <a:rPr sz="8000" b="1">
                <a:latin typeface="Imprint MT Shadow"/>
                <a:ea typeface="Imprint MT Shadow"/>
                <a:cs typeface="Imprint MT Shadow"/>
              </a:rPr>
              <a:t> </a:t>
            </a:r>
            <a:r>
              <a:rPr sz="8000" b="1">
                <a:latin typeface="Red Hat Display"/>
                <a:ea typeface="Red Hat Display"/>
                <a:cs typeface="Red Hat Display"/>
              </a:rPr>
              <a:t> 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08FDF88-E416-10EA-4C5A-E690DF4E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532" y="2065707"/>
            <a:ext cx="1256585" cy="12003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latin typeface="Red Hat Display"/>
                <a:ea typeface="Red Hat Display"/>
                <a:cs typeface="Red Hat Display"/>
              </a:rPr>
              <a:t>AND</a:t>
            </a:r>
            <a:r>
              <a:rPr sz="3600">
                <a:latin typeface="Red Hat Display"/>
                <a:ea typeface="Red Hat Display"/>
                <a:cs typeface="Red Hat Display"/>
              </a:rPr>
              <a:t> 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3C163C8-D958-9BCC-21D1-8A31EADB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6873" y="3396041"/>
            <a:ext cx="4236484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Red Hat Display"/>
                <a:ea typeface="Red Hat Display"/>
                <a:cs typeface="Red Hat Display"/>
              </a:rPr>
              <a:t>MILE LENDING DESERTS span northern Wisconsin</a:t>
            </a:r>
          </a:p>
        </p:txBody>
      </p:sp>
      <p:pic>
        <p:nvPicPr>
          <p:cNvPr id="3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e8e5a3c9d45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5641" y="1586441"/>
            <a:ext cx="5267412" cy="3309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513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265edda7f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7c4f20f2c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3.  Small-business lending contracted—and small loans dominate what remains.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5" name="Chart 24"/>
          <p:cNvGraphicFramePr/>
          <p:nvPr/>
        </p:nvGraphicFramePr>
        <p:xfrm>
          <a:off xmlns:a="http://schemas.openxmlformats.org/drawingml/2006/main" x="3008416" y="2295147"/>
          <a:ext xmlns:a="http://schemas.openxmlformats.org/drawingml/2006/main" cx="3635277" cy="295951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26ab27883d4cd8"/>
          </a:graphicData>
        </a:graphic>
      </p:graphicFrame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37EE921-3575-DE50-CE45-447095C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9335" y="3272892"/>
            <a:ext cx="2137650" cy="707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latin typeface="Red Hat Display"/>
                <a:ea typeface="Red Hat Display"/>
                <a:cs typeface="Red Hat Display"/>
              </a:rPr>
              <a:t>91.5%</a:t>
            </a:r>
            <a:r>
              <a:rPr sz="2000" b="1">
                <a:latin typeface="Red Hat Display"/>
                <a:ea typeface="Red Hat Display"/>
                <a:cs typeface="Red Hat Display"/>
              </a:rPr>
              <a:t> </a:t>
            </a:r>
          </a:p>
          <a:p xmlns:a="http://schemas.openxmlformats.org/drawingml/2006/main">
            <a:pPr algn="ctr">
              <a:buNone/>
            </a:pPr>
            <a:r>
              <a:rPr sz="2000" b="1">
                <a:latin typeface="Red Hat Display"/>
                <a:ea typeface="Red Hat Display"/>
                <a:cs typeface="Red Hat Display"/>
              </a:rPr>
              <a:t>of loans</a:t>
            </a:r>
            <a:r>
              <a:rPr sz="2000" b="1">
                <a:latin typeface="Red Hat Display"/>
                <a:ea typeface="Red Hat Display"/>
                <a:cs typeface="Red Hat Display"/>
              </a:rPr>
              <a:t> </a:t>
            </a:r>
            <a:endParaRPr sz="900">
              <a:latin typeface="Red Hat Display"/>
              <a:ea typeface="Red Hat Display"/>
              <a:cs typeface="Red Hat Display"/>
            </a:endParaRPr>
          </a:p>
        </p:txBody>
      </p:sp>
      <p:graphicFrame>
        <p:nvGraphicFramePr>
          <p:cNvPr id="37" name="Chart 27"/>
          <p:cNvGraphicFramePr/>
          <p:nvPr/>
        </p:nvGraphicFramePr>
        <p:xfrm>
          <a:off xmlns:a="http://schemas.openxmlformats.org/drawingml/2006/main" x="5950713" y="2295146"/>
          <a:ext xmlns:a="http://schemas.openxmlformats.org/drawingml/2006/main" cx="3635277" cy="295951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cf94fc2c2d4836"/>
          </a:graphicData>
        </a:graphic>
      </p:graphicFrame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027EA8B-D0B8-CD76-AD3C-0201FD0C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017" y="3290693"/>
            <a:ext cx="2370667" cy="707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latin typeface="Red Hat Display"/>
                <a:ea typeface="Red Hat Display"/>
                <a:cs typeface="Red Hat Display"/>
              </a:rPr>
              <a:t>30.6%</a:t>
            </a:r>
            <a:r>
              <a:rPr sz="2000" b="1">
                <a:latin typeface="Red Hat Display"/>
                <a:ea typeface="Red Hat Display"/>
                <a:cs typeface="Red Hat Display"/>
              </a:rPr>
              <a:t> </a:t>
            </a:r>
          </a:p>
          <a:p xmlns:a="http://schemas.openxmlformats.org/drawingml/2006/main">
            <a:pPr algn="ctr">
              <a:buNone/>
            </a:pPr>
            <a:r>
              <a:rPr sz="2000" b="1">
                <a:latin typeface="Red Hat Display"/>
                <a:ea typeface="Red Hat Display"/>
                <a:cs typeface="Red Hat Display"/>
              </a:rPr>
              <a:t>of dollars</a:t>
            </a:r>
            <a:endParaRPr sz="900">
              <a:latin typeface="Red Hat Display"/>
              <a:ea typeface="Red Hat Display"/>
              <a:cs typeface="Red Hat Display"/>
            </a:endParaRPr>
          </a:p>
        </p:txBody>
      </p:sp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d9c91dfc5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A8578A-355C-4EB4-CF2C-B87D76B1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041E031B-E6D0-475E-80A8-A2A64319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CF8E040B-01F9-42C2-A4B0-9F65EB9B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D3BDF2C-07F0-360D-CA1B-7A7E958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416" y="1179952"/>
            <a:ext cx="6862916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Loans under $100,000 dominate by count—not by dollars.</a:t>
            </a:r>
            <a:endParaRPr sz="2800" b="1">
              <a:solidFill>
                <a:srgbClr val="C5050C"/>
              </a:solidFill>
              <a:latin typeface="Red Hat Display ExtraBold"/>
              <a:ea typeface="Red Hat Display ExtraBold"/>
              <a:cs typeface="Red Hat Display ExtraBold"/>
            </a:endParaRPr>
          </a:p>
        </p:txBody>
      </p:sp>
      <p:pic>
        <p:nvPicPr>
          <p:cNvPr id="4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328d8fba9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EC8FED5C-218E-457A-9A35-166DD1A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56D0FCEC-A80D-4C24-8633-51D0A325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8BEE3704-60CD-4CE7-956D-BF033450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DE68E60-DBFE-4501-A5C2-7E413CD7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2377102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8da97852346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4055b7d6d42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4.  Credit unions consolidated while expanding their branch networks.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719da1f4d4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07BF83-F26E-B51F-F100-D990FB76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c5834ce56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2E2173F-7E9F-4493-8ABD-CDD335D2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B1E94706-E369-4B68-AD89-59E2420D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237241A2-9A9B-498D-9F89-77A89AB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A6F75C7-A6C3-409E-98B8-00F1BC57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CF93DDCA-9374-4659-BEEC-AAD9F704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4D4E817E-319E-4A15-A6F7-690815B5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9F28752-75AB-676F-9C48-67CFE7D1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5424" y="2065131"/>
            <a:ext cx="3943254" cy="1862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500">
                <a:latin typeface="Imprint MT Shadow"/>
                <a:ea typeface="Imprint MT Shadow"/>
                <a:cs typeface="Imprint MT Shadow"/>
              </a:rPr>
              <a:t>6.5:1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6EB6E61-FF79-D8BA-2092-40064C3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4625" y="3571875"/>
            <a:ext cx="3000375" cy="131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Red Hat Display"/>
                <a:ea typeface="Red Hat Display"/>
                <a:cs typeface="Red Hat Display"/>
              </a:rPr>
              <a:t>branches per credit union
in 2024
up from 2.8:1 in 2010</a:t>
            </a:r>
          </a:p>
        </p:txBody>
      </p:sp>
      <p:pic>
        <p:nvPicPr>
          <p:cNvPr id="37" name="Graphic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e8caa2b654063">
            <a:extLst>
              <a:ext uri="{96DAC541-7B7A-43D3-8B79-37D633B846F1}">
                <asvg:svgBlip xmlns:asvg="http://schemas.microsoft.com/office/drawing/2016/SVG/main" r:embed="R060ba1daabcf43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5995" y="1142868"/>
            <a:ext cx="3578948" cy="35789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296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6eb05e7e64a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89fbb9ef245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5.  Credit unions are lending more—but not more often.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3" name="Chart 26"/>
          <p:cNvGraphicFramePr/>
          <p:nvPr/>
        </p:nvGraphicFramePr>
        <p:xfrm>
          <a:off xmlns:a="http://schemas.openxmlformats.org/drawingml/2006/main" x="3881548" y="1661898"/>
          <a:ext xmlns:a="http://schemas.openxmlformats.org/drawingml/2006/main" cx="4984613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2b99653cc846e1"/>
          </a:graphicData>
        </a:graphic>
      </p:graphicFrame>
      <p:pic>
        <p:nvPicPr>
          <p:cNvPr id="3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b4d75d8d14f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6931B9-156E-7B5A-893C-6146D5E0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a2bcced33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34AC1ACE-E4D8-4A3D-8B54-0AD43E2D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1D88E9E-3782-48EE-9F96-30D32F4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BDD1DAB-BA36-4121-93E7-F992BFD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2965522-15B7-48ED-BADA-E571386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2106A58E-88CB-4483-BCDE-38956868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6E5D980E-A5A5-4A06-AE06-230B35AB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36D48CD-9E54-F7B7-FFF8-0E6A3A71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783" y="1533689"/>
            <a:ext cx="103826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Red Hat Display"/>
                <a:ea typeface="Red Hat Display"/>
                <a:cs typeface="Red Hat Display"/>
              </a:rPr>
              <a:t>2017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C7871F4-3241-BA9A-DCD5-4E50A508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98" y="1497664"/>
            <a:ext cx="103826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Red Hat Display"/>
                <a:ea typeface="Red Hat Display"/>
                <a:cs typeface="Red Hat Display"/>
              </a:rPr>
              <a:t>2024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A968995C-498A-4048-9193-00085C68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841" y="1759788"/>
            <a:ext cx="0" cy="3115009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D4408E2-7243-D243-1E55-3D0950F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548" y="4143830"/>
            <a:ext cx="248529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Red Hat Display"/>
                <a:ea typeface="Red Hat Display"/>
                <a:cs typeface="Red Hat Display"/>
              </a:rPr>
              <a:t>$185K average commercial loan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FBB9323-8787-7AA5-1AD7-EDEC4E3E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776" y="4143830"/>
            <a:ext cx="251978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Red Hat Display"/>
                <a:ea typeface="Red Hat Display"/>
                <a:cs typeface="Red Hat Display"/>
              </a:rPr>
              <a:t>$485K average commercial loan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1DA2D8F-B8D5-6E29-054D-82E18BB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224" y="825461"/>
            <a:ext cx="80718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</a:rPr>
              <a:t>Larger loans—not more loans—drove growth.</a:t>
            </a:r>
          </a:p>
        </p:txBody>
      </p:sp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FCB0E4E5-E6A0-4701-81EE-1AF2BE5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436" y="4000500"/>
            <a:ext cx="432638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1606437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d68d3d069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2bcfce625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6.  Wisconsin attracts venture capital—but remains in the lower third nationally.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69312e86c4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73CF0D-F193-2BE4-F782-6CC47B60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f50eca3654b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267ED1E-4E59-4853-BFF6-A1829FA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5C794688-3C97-4E18-9B56-CFC6EC57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6ADC5F4F-D430-4801-AD47-5816255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3250CBE8-ABB3-499E-9590-5953BCBB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94E77A1A-D82C-4355-90F9-070E35C4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E57E57C7-4627-40BB-8F11-D20389E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5632DAEB-5A0B-28F1-1A13-2A02B75B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316654" y="4175795"/>
            <a:ext cx="4027097" cy="4723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Arc 64">
            <a:extLst xmlns:a="http://schemas.openxmlformats.org/drawingml/2006/main">
              <a:ext uri="{FF2B5EF4-FFF2-40B4-BE49-F238E27FC236}">
                <a16:creationId xmlns:a16="http://schemas.microsoft.com/office/drawing/2014/main" id="{585966B8-04C6-19E7-C34C-0A593AB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1">
            <a:off x="2375809" y="759138"/>
            <a:ext cx="5696043" cy="3703838"/>
          </a:xfrm>
          <a:prstGeom xmlns:a="http://schemas.openxmlformats.org/drawingml/2006/main" prst="arc">
            <a:avLst>
              <a:gd name="adj1" fmla="val 8267749"/>
              <a:gd name="adj2" fmla="val 666244"/>
            </a:avLst>
          </a:prstGeom>
          <a:ln xmlns:a="http://schemas.openxmlformats.org/drawingml/2006/main" w="158750">
            <a:solidFill>
              <a:schemeClr val="accent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800"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0A1EEA9D-00F5-925E-0545-9778265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9491208" y="3475557"/>
            <a:ext cx="6587452" cy="504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alpha val="20000"/>
            </a:schemeClr>
          </a:solidFill>
          <a:effectLst xmlns:a="http://schemas.openxmlformats.org/drawingml/2006/main">
            <a:softEdge rad="16510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800"/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9D86DB22-A5BA-551D-6016-D47B64F8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9450161" y="3743720"/>
            <a:ext cx="6587452" cy="6171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800"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94AB09E6-401F-E7F2-C96B-FE54AE8E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1668" y="3129600"/>
            <a:ext cx="3675846" cy="206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35th</a:t>
            </a:r>
            <a:r>
              <a:rPr sz="3200" b="1"/>
              <a:t> </a:t>
            </a:r>
            <a:r>
              <a:rPr sz="3200"/>
              <a:t>of 45 states
in per-capita VC.
≈$3.8B raised
2015–2024.</a:t>
            </a:r>
            <a:endParaRPr sz="3200">
              <a:latin typeface="Georgia"/>
              <a:ea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795835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efb4042f24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8240" y="-44971"/>
            <a:ext cx="2823664" cy="122492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C62952-CD23-2FEE-F352-79447F9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46ec982e48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1654" y="5693993"/>
            <a:ext cx="3398536" cy="933518"/>
          </a:xfrm>
          <a:prstGeom xmlns:a="http://schemas.openxmlformats.org/drawingml/2006/main" prst="rect">
            <a:avLst/>
          </a:prstGeom>
        </p:spPr>
      </p:pic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907AAD61-0ABD-456F-A31E-5302C27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04960" y="37566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8BBDD6EF-8CE6-4C7A-8EA7-162AF60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1400" y="619506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C184CFD-875B-4D31-A97F-D1BFF07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1140" y="369570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76704B3-232E-460E-89D7-04BE4B1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9500" y="6073140"/>
            <a:ext cx="4770120" cy="2057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B8A1A55-7811-47C0-B784-97757C3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301334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ADF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E5A4A9B-388E-49F2-9F77-75FB15A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3520835" y="-198096"/>
            <a:ext cx="6862916" cy="295951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5050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3BE908-B0D3-D1DF-3509-DB5C9C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33" y="1204181"/>
            <a:ext cx="9074151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def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defRPr>
            </a:pPr>
            <a:r>
              <a:rPr sz="4800" b="1">
                <a:solidFill>
                  <a:srgbClr val="C5050C"/>
                </a:solidFill>
                <a:latin typeface="Red Hat Display ExtraBold"/>
                <a:ea typeface="Red Hat Display ExtraBold"/>
                <a:cs typeface="Red Hat Display ExtraBold"/>
              </a:rPr>
              <a:t>The takeaway: Wisconsin has capital—but access, scale, and local control remain uneven.</a:t>
            </a:r>
          </a:p>
        </p:txBody>
      </p:sp>
    </p:spTree>
    <p:extLst>
      <p:ext uri="{BB962C8B-B14F-4D97-AF65-F5344CB8AC3E}">
        <p14:creationId xmlns:p14="http://schemas.microsoft.com/office/powerpoint/2010/main" val="3141781741"/>
      </p:ext>
    </p:extLst>
  </p:cSld>
</p:sld>
</file>

<file path=ppt/theme/theme1.xml><?xml version="1.0" encoding="utf-8"?>
<a:theme xmlns:a="http://schemas.openxmlformats.org/drawingml/2006/main" name="CDI master slide layouts">
  <a:themeElements>
    <a:clrScheme name="Extension - CDI">
      <a:dk1>
        <a:srgbClr val="000000"/>
      </a:dk1>
      <a:lt1>
        <a:srgbClr val="FFFFFF"/>
      </a:lt1>
      <a:dk2>
        <a:srgbClr val="333333"/>
      </a:dk2>
      <a:lt2>
        <a:srgbClr val="F7F7F7"/>
      </a:lt2>
      <a:accent1>
        <a:srgbClr val="C5050C"/>
      </a:accent1>
      <a:accent2>
        <a:srgbClr val="9B0000"/>
      </a:accent2>
      <a:accent3>
        <a:srgbClr val="DF8619"/>
      </a:accent3>
      <a:accent4>
        <a:srgbClr val="7095A7"/>
      </a:accent4>
      <a:accent5>
        <a:srgbClr val="3D6D82"/>
      </a:accent5>
      <a:accent6>
        <a:srgbClr val="A1AF7B"/>
      </a:accent6>
      <a:hlink>
        <a:srgbClr val="0478A7"/>
      </a:hlink>
      <a:folHlink>
        <a:srgbClr val="0478A7"/>
      </a:folHlink>
    </a:clrScheme>
    <a:fontScheme name="Red Hat Display Bold - Red Hat Text Regular">
      <a:majorFont>
        <a:latin typeface="Red Hat Display Bold"/>
        <a:ea typeface=""/>
        <a:cs typeface=""/>
      </a:majorFont>
      <a:minorFont>
        <a:latin typeface="Red Hat Text Regular"/>
        <a:ea typeface=""/>
        <a:cs typeface=""/>
      </a:minorFont>
    </a:fontScheme>
    <a:fmtScheme name="Extension - CDI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2026-08-06T05:53:05.5640000Z</dcterms:created>
  <dcterms:modified xsi:type="dcterms:W3CDTF">2026-08-06T05:53:05.5640000Z</dcterms:modified>
</coreProperties>
</file>